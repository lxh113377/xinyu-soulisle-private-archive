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7"/>
    <p:sldId id="277" r:id="rId28"/>
    <p:sldId id="278" r:id="rId29"/>
    <p:sldId id="279" r:id="rId30"/>
    <p:sldId id="280" r:id="rId31"/>
    <p:sldId id="281" r:id="rId32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ableStyles" Target="tableStyles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685800" y="658368"/>
            <a:ext cx="3657600" cy="274320"/>
          </a:xfrm>
          <a:prstGeom prst="roundRect">
            <a:avLst>
              <a:gd name="adj" fmla="val 50000"/>
            </a:avLst>
          </a:prstGeom>
          <a:solidFill>
            <a:srgbClr val="DE9A38"/>
          </a:solidFill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85800" y="658368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算法创新赛 · AI+软件创新 · 情感陪伴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85800" y="1078992"/>
            <a:ext cx="640080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心屿  MindIsle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85800" y="1956816"/>
            <a:ext cx="6400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让每一种情绪，都被温柔接住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713232" y="2542032"/>
            <a:ext cx="1371600" cy="45720"/>
          </a:xfrm>
          <a:prstGeom prst="rect">
            <a:avLst/>
          </a:prstGeom>
          <a:solidFill>
            <a:srgbClr val="DE9A38"/>
          </a:solidFill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85800" y="2706624"/>
            <a:ext cx="67665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CEE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多模态情感感知 + 长期记忆驱动的 AI 个性化陪伴平台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3035808"/>
            <a:ext cx="67665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0B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不做“会聊天的工具”，做“记得你、懂你、但知道分寸”的长期陪伴关系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85800" y="4041648"/>
            <a:ext cx="4206240" cy="18288"/>
          </a:xfrm>
          <a:prstGeom prst="rect">
            <a:avLst/>
          </a:prstGeom>
          <a:solidFill>
            <a:srgbClr val="3D4468"/>
          </a:solidFill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85800" y="416052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1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参赛团队：心屿 MindIsle 团队    ｜    汇报日期：2026 年 10 月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74320"/>
            <a:ext cx="1481328" cy="256032"/>
          </a:xfrm>
          <a:prstGeom prst="roundRect">
            <a:avLst>
              <a:gd name="adj" fmla="val 50000"/>
            </a:avLst>
          </a:prstGeom>
          <a:solidFill>
            <a:srgbClr val="DE9A38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274320"/>
            <a:ext cx="148132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ONE PAGE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85216"/>
            <a:ext cx="813816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一页速览：心屿是什么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1078992"/>
            <a:ext cx="813816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7AED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评委 30 秒即可建立整体认知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/>
        </p:nvGraphicFramePr>
        <p:xfrm>
          <a:off x="502920" y="1481328"/>
          <a:ext cx="8138160" cy="2916936"/>
        </p:xfrm>
        <a:graphic>
          <a:graphicData uri="http://schemas.openxmlformats.org/drawingml/2006/table">
            <a:tbl>
              <a:tblPr/>
              <a:tblGrid>
                <a:gridCol w="1371600"/>
                <a:gridCol w="6766560"/>
              </a:tblGrid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维度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A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内容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A50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23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项目名称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心屿 MindIsle ｜ 让每一种情绪，都被温柔接住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23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解决痛点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① 聊完就忘 ② 数据当燃料 ③ 风险无接住 ④ 求助门槛高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23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项目定位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记得你、懂你、知道分寸的 AI 陪伴关系平台（非工具、非诊疗）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23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核心方案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多模态感知 → EMG 记忆 → 共情生成 → PACE 主动陪伴 → Guardian 守护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23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技术亮点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门控多模态融合 / 时间衰减分层记忆 / Persona Anchor / 多智能体协同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23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产品形态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Web + 小程序 + App 三端一体，记忆与关系全端同步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23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目标用户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18–28 岁 Z 世代为核心；延展异地亲密关系与银发空巢人群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23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商业模式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C 端订阅 + 情感增值 + B 端（高校 / 企业 / 养老）SaaS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23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社会价值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降低求助门槛、危机早识别与转介、补位下沉市场心理服务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23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合规底线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敏感信息单独同意、记忆可查可删、AI 显著标识、危机必转介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02920" y="4700016"/>
            <a:ext cx="5943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6ABB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心屿 MindIsle · 2026 第八届全球校园人工智能算法精英大赛 · 算法创新赛 · 赛题2「AI+软件创新」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8138160" y="4700016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74320"/>
            <a:ext cx="1481328" cy="256032"/>
          </a:xfrm>
          <a:prstGeom prst="roundRect">
            <a:avLst>
              <a:gd name="adj" fmla="val 50000"/>
            </a:avLst>
          </a:prstGeom>
          <a:solidFill>
            <a:srgbClr val="DE9A38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274320"/>
            <a:ext cx="148132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PAIN POINTS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85216"/>
            <a:ext cx="813816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为什么现在是机会窗口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1078992"/>
            <a:ext cx="813816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7AED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孤独感成为时代性情绪，但现有方案在四个环节集体失守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536192"/>
            <a:ext cx="4023360" cy="1444752"/>
          </a:xfrm>
          <a:prstGeom prst="rect">
            <a:avLst/>
          </a:prstGeom>
          <a:solidFill>
            <a:srgbClr val="FFFFFF"/>
          </a:solidFill>
          <a:ln w="9525">
            <a:solidFill>
              <a:srgbClr val="E3DAC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02920" y="1536192"/>
            <a:ext cx="64008" cy="1444752"/>
          </a:xfrm>
          <a:prstGeom prst="rect">
            <a:avLst/>
          </a:prstGeom>
          <a:solidFill>
            <a:srgbClr val="D4694F"/>
          </a:solidFill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740664" y="1755648"/>
            <a:ext cx="365760" cy="365760"/>
          </a:xfrm>
          <a:prstGeom prst="ellipse">
            <a:avLst/>
          </a:prstGeom>
          <a:solidFill>
            <a:srgbClr val="D4694F"/>
          </a:solidFill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40664" y="1755648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216152" y="1737360"/>
            <a:ext cx="31546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3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聊完就忘，关系无沉淀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40664" y="2176272"/>
            <a:ext cx="356616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50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主流产品 = 大模型 + 角色 Prompt，跨会话记忆薄弱，第三周仍在重复提问；留存呈“三日断崖”。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17720" y="1536192"/>
            <a:ext cx="4023360" cy="1444752"/>
          </a:xfrm>
          <a:prstGeom prst="rect">
            <a:avLst/>
          </a:prstGeom>
          <a:solidFill>
            <a:srgbClr val="FFFFFF"/>
          </a:solidFill>
          <a:ln w="9525">
            <a:solidFill>
              <a:srgbClr val="E3DAC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4617720" y="1536192"/>
            <a:ext cx="64008" cy="1444752"/>
          </a:xfrm>
          <a:prstGeom prst="rect">
            <a:avLst/>
          </a:prstGeom>
          <a:solidFill>
            <a:srgbClr val="DE9A38"/>
          </a:solidFill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4855464" y="1755648"/>
            <a:ext cx="365760" cy="365760"/>
          </a:xfrm>
          <a:prstGeom prst="ellipse">
            <a:avLst/>
          </a:prstGeom>
          <a:solidFill>
            <a:srgbClr val="DE9A38"/>
          </a:solidFill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4855464" y="1755648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330952" y="1737360"/>
            <a:ext cx="31546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3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情绪数据被当作燃料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855464" y="2176272"/>
            <a:ext cx="356616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50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倾诉含亲密关系、家庭创伤等高敏信息；多数产品未提供“可见 / 可删 / 可导出”，默认用于训练。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" y="3127248"/>
            <a:ext cx="4023360" cy="1444752"/>
          </a:xfrm>
          <a:prstGeom prst="rect">
            <a:avLst/>
          </a:prstGeom>
          <a:solidFill>
            <a:srgbClr val="FFFFFF"/>
          </a:solidFill>
          <a:ln w="9525">
            <a:solidFill>
              <a:srgbClr val="E3DAC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502920" y="3127248"/>
            <a:ext cx="64008" cy="1444752"/>
          </a:xfrm>
          <a:prstGeom prst="rect">
            <a:avLst/>
          </a:prstGeom>
          <a:solidFill>
            <a:srgbClr val="D4694F"/>
          </a:solidFill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740664" y="3346704"/>
            <a:ext cx="365760" cy="365760"/>
          </a:xfrm>
          <a:prstGeom prst="ellipse">
            <a:avLst/>
          </a:prstGeom>
          <a:solidFill>
            <a:srgbClr val="D4694F"/>
          </a:solidFill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740664" y="3346704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216152" y="3328416"/>
            <a:ext cx="31546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3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风险信号无人接住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40664" y="3767328"/>
            <a:ext cx="356616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50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深夜极端表达只换来模板化回复“建议寻求专业帮助”；无分级识别、无转介闭环、无事后回访。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17720" y="3127248"/>
            <a:ext cx="4023360" cy="1444752"/>
          </a:xfrm>
          <a:prstGeom prst="rect">
            <a:avLst/>
          </a:prstGeom>
          <a:solidFill>
            <a:srgbClr val="FFFFFF"/>
          </a:solidFill>
          <a:ln w="9525">
            <a:solidFill>
              <a:srgbClr val="E3DAC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4617720" y="3127248"/>
            <a:ext cx="64008" cy="1444752"/>
          </a:xfrm>
          <a:prstGeom prst="rect">
            <a:avLst/>
          </a:prstGeom>
          <a:solidFill>
            <a:srgbClr val="DE9A38"/>
          </a:solidFill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4855464" y="3346704"/>
            <a:ext cx="365760" cy="365760"/>
          </a:xfrm>
          <a:prstGeom prst="ellipse">
            <a:avLst/>
          </a:prstGeom>
          <a:solidFill>
            <a:srgbClr val="DE9A38"/>
          </a:solidFill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4855464" y="3346704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330952" y="3328416"/>
            <a:ext cx="31546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3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求助门槛居高不下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4855464" y="3767328"/>
            <a:ext cx="356616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50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心理咨询存在价格、病耻感、地域供给三重门槛；大量需求停在“想说但不知跟谁说”。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02920" y="4700016"/>
            <a:ext cx="5943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6ABB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心屿 MindIsle · 2026 第八届全球校园人工智能算法精英大赛 · 算法创新赛 · 赛题2「AI+软件创新」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8138160" y="4700016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74320"/>
            <a:ext cx="1481328" cy="256032"/>
          </a:xfrm>
          <a:prstGeom prst="roundRect">
            <a:avLst>
              <a:gd name="adj" fmla="val 50000"/>
            </a:avLst>
          </a:prstGeom>
          <a:solidFill>
            <a:srgbClr val="DE9A38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274320"/>
            <a:ext cx="148132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POSITIONING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85216"/>
            <a:ext cx="813816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项目定位：三条不可越界的边界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1078992"/>
            <a:ext cx="813816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7AED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边界不是限制，而是心屿区别于所有同类产品的价值宣言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536192"/>
            <a:ext cx="260604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E3DAC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02920" y="1536192"/>
            <a:ext cx="2606040" cy="91440"/>
          </a:xfrm>
          <a:prstGeom prst="rect">
            <a:avLst/>
          </a:prstGeom>
          <a:solidFill>
            <a:srgbClr val="3F8C86"/>
          </a:solidFill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58952" y="1783080"/>
            <a:ext cx="21945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F8C8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Bridge, not Replace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58952" y="2103120"/>
            <a:ext cx="21945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3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桥梁而非替代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58952" y="2578608"/>
            <a:ext cx="822960" cy="27432"/>
          </a:xfrm>
          <a:prstGeom prst="rect">
            <a:avLst/>
          </a:prstGeom>
          <a:solidFill>
            <a:srgbClr val="3F8C86"/>
          </a:solidFill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758952" y="2706624"/>
            <a:ext cx="2148840" cy="1600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A50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不以替代真实人际关系为目标。北极星指标是“情绪恢复度 × 现实关系连接”，不是使用时长。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91840" y="1536192"/>
            <a:ext cx="260604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E3DAC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3291840" y="1536192"/>
            <a:ext cx="2606040" cy="91440"/>
          </a:xfrm>
          <a:prstGeom prst="rect">
            <a:avLst/>
          </a:prstGeom>
          <a:solidFill>
            <a:srgbClr val="DE9A38"/>
          </a:solidFill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3547872" y="1783080"/>
            <a:ext cx="21945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Companion, not Doctor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547872" y="2103120"/>
            <a:ext cx="21945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3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陪伴而非诊疗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3547872" y="2578608"/>
            <a:ext cx="822960" cy="27432"/>
          </a:xfrm>
          <a:prstGeom prst="rect">
            <a:avLst/>
          </a:prstGeom>
          <a:solidFill>
            <a:srgbClr val="DE9A38"/>
          </a:solidFill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47872" y="2706624"/>
            <a:ext cx="2148840" cy="1600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A50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不做心理诊断、不开药方、不承诺疗效。只做倾听、陪伴、情绪调节工具与专业转介。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080760" y="1536192"/>
            <a:ext cx="260604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E3DAC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6080760" y="1536192"/>
            <a:ext cx="2606040" cy="91440"/>
          </a:xfrm>
          <a:prstGeom prst="rect">
            <a:avLst/>
          </a:prstGeom>
          <a:solidFill>
            <a:srgbClr val="D4694F"/>
          </a:solidFill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336792" y="1783080"/>
            <a:ext cx="21945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69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Steward, not Miner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336792" y="2103120"/>
            <a:ext cx="21945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3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管家而非矿工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6336792" y="2578608"/>
            <a:ext cx="822960" cy="27432"/>
          </a:xfrm>
          <a:prstGeom prst="rect">
            <a:avLst/>
          </a:prstGeom>
          <a:solidFill>
            <a:srgbClr val="D4694F"/>
          </a:solidFill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336792" y="2706624"/>
            <a:ext cx="2148840" cy="1600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A50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情绪数据所有权归用户。默认不用于训练，全部记忆可查可删可导出，用户是唯一主权者。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02920" y="4700016"/>
            <a:ext cx="5943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6ABB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心屿 MindIsle · 2026 第八届全球校园人工智能算法精英大赛 · 算法创新赛 · 赛题2「AI+软件创新」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138160" y="4700016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74320"/>
            <a:ext cx="1481328" cy="256032"/>
          </a:xfrm>
          <a:prstGeom prst="roundRect">
            <a:avLst>
              <a:gd name="adj" fmla="val 50000"/>
            </a:avLst>
          </a:prstGeom>
          <a:solidFill>
            <a:srgbClr val="DE9A38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274320"/>
            <a:ext cx="148132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USERS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85216"/>
            <a:ext cx="813816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目标用户画像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1078992"/>
            <a:ext cx="813816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7AED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以 18–28 岁 Z 世代为切口，向两端人群延展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536192"/>
            <a:ext cx="2606040" cy="2487168"/>
          </a:xfrm>
          <a:prstGeom prst="rect">
            <a:avLst/>
          </a:prstGeom>
          <a:solidFill>
            <a:srgbClr val="FFFFFF"/>
          </a:solidFill>
          <a:ln w="9525">
            <a:solidFill>
              <a:srgbClr val="E3DAC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02920" y="1536192"/>
            <a:ext cx="2606040" cy="475488"/>
          </a:xfrm>
          <a:prstGeom prst="rect">
            <a:avLst/>
          </a:prstGeom>
          <a:solidFill>
            <a:srgbClr val="242A50"/>
          </a:solidFill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22376" y="1536192"/>
            <a:ext cx="155448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小满 · 21 岁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194560" y="1536192"/>
            <a:ext cx="9144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异地求学大三学生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722376" y="2121408"/>
            <a:ext cx="21945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典型特征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22376" y="2322576"/>
            <a:ext cx="2194560" cy="4023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50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宿舍关系平淡，朋友圈不敢发负面情绪；23:00–01:00 为情绪低潮期。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22376" y="2743200"/>
            <a:ext cx="21945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核心需求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22376" y="2944368"/>
            <a:ext cx="2194560" cy="4023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50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不被评判的倾听者；希望被记住、被主动关心。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722376" y="3364992"/>
            <a:ext cx="21945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付费意愿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22376" y="3566160"/>
            <a:ext cx="2194560" cy="4023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50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月付费敏感区 15–35 元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91840" y="1536192"/>
            <a:ext cx="2606040" cy="2487168"/>
          </a:xfrm>
          <a:prstGeom prst="rect">
            <a:avLst/>
          </a:prstGeom>
          <a:solidFill>
            <a:srgbClr val="FFFFFF"/>
          </a:solidFill>
          <a:ln w="9525">
            <a:solidFill>
              <a:srgbClr val="E3DAC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3291840" y="1536192"/>
            <a:ext cx="2606040" cy="475488"/>
          </a:xfrm>
          <a:prstGeom prst="rect">
            <a:avLst/>
          </a:prstGeom>
          <a:solidFill>
            <a:srgbClr val="242A50"/>
          </a:solidFill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3511296" y="1536192"/>
            <a:ext cx="155448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阿哲 · 25 岁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983480" y="1536192"/>
            <a:ext cx="9144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独居职场新人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511296" y="2121408"/>
            <a:ext cx="21945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典型特征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511296" y="2322576"/>
            <a:ext cx="2194560" cy="4023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50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996 节奏，合租零社交，报喜不报忧；通勤与加班深夜为高频倾诉时段。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511296" y="2743200"/>
            <a:ext cx="21945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核心需求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511296" y="2944368"/>
            <a:ext cx="2194560" cy="4023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50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低门槛语音输入、即时疏导、不愿被说教。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511296" y="3364992"/>
            <a:ext cx="21945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付费意愿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11296" y="3566160"/>
            <a:ext cx="2194560" cy="4023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50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视作情绪刚需，付费意愿较高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080760" y="1536192"/>
            <a:ext cx="2606040" cy="2487168"/>
          </a:xfrm>
          <a:prstGeom prst="rect">
            <a:avLst/>
          </a:prstGeom>
          <a:solidFill>
            <a:srgbClr val="FFFFFF"/>
          </a:solidFill>
          <a:ln w="9525">
            <a:solidFill>
              <a:srgbClr val="E3DAC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6080760" y="1536192"/>
            <a:ext cx="2606040" cy="475488"/>
          </a:xfrm>
          <a:prstGeom prst="rect">
            <a:avLst/>
          </a:prstGeom>
          <a:solidFill>
            <a:srgbClr val="242A50"/>
          </a:solidFill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6300216" y="1536192"/>
            <a:ext cx="155448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晚晴 · 19 岁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7772400" y="1536192"/>
            <a:ext cx="9144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代际桥梁使用者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300216" y="2121408"/>
            <a:ext cx="21945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典型特征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300216" y="2322576"/>
            <a:ext cx="2194560" cy="4023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50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为独居在老家的奶奶配置陪伴体，通过“家庭情绪周报”了解长辈状态。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300216" y="2743200"/>
            <a:ext cx="21945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核心需求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300216" y="2944368"/>
            <a:ext cx="2194560" cy="4023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50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语音优先、方言友好、异常情绪自动通知子女。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300216" y="3364992"/>
            <a:ext cx="21945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付费意愿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300216" y="3566160"/>
            <a:ext cx="2194560" cy="4023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50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代付意愿强，价格敏感度低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02920" y="413308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23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延展人群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1481328" y="4114800"/>
            <a:ext cx="1691640" cy="292608"/>
          </a:xfrm>
          <a:prstGeom prst="roundRect">
            <a:avLst>
              <a:gd name="adj" fmla="val 50000"/>
            </a:avLst>
          </a:prstGeom>
          <a:solidFill>
            <a:srgbClr val="F2EBE2"/>
          </a:solidFill>
          <a:ln w="9525">
            <a:solidFill>
              <a:srgbClr val="E3DACE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1481328" y="4114800"/>
            <a:ext cx="16916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A3F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异地亲密关系人群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291840" y="4114800"/>
            <a:ext cx="1691640" cy="292608"/>
          </a:xfrm>
          <a:prstGeom prst="roundRect">
            <a:avLst>
              <a:gd name="adj" fmla="val 50000"/>
            </a:avLst>
          </a:prstGeom>
          <a:solidFill>
            <a:srgbClr val="F2EBE2"/>
          </a:solidFill>
          <a:ln w="9525">
            <a:solidFill>
              <a:srgbClr val="E3DACE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3291840" y="4114800"/>
            <a:ext cx="16916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A3F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银发空巢人群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102352" y="4114800"/>
            <a:ext cx="1691640" cy="292608"/>
          </a:xfrm>
          <a:prstGeom prst="roundRect">
            <a:avLst>
              <a:gd name="adj" fmla="val 50000"/>
            </a:avLst>
          </a:prstGeom>
          <a:solidFill>
            <a:srgbClr val="F2EBE2"/>
          </a:solidFill>
          <a:ln w="9525">
            <a:solidFill>
              <a:srgbClr val="E3DACE"/>
            </a:solidFill>
            <a:prstDash val="solid"/>
          </a:ln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5102352" y="4114800"/>
            <a:ext cx="16916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A3F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高压职业群体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912864" y="4114800"/>
            <a:ext cx="1691640" cy="292608"/>
          </a:xfrm>
          <a:prstGeom prst="roundRect">
            <a:avLst>
              <a:gd name="adj" fmla="val 50000"/>
            </a:avLst>
          </a:prstGeom>
          <a:solidFill>
            <a:srgbClr val="F2EBE2"/>
          </a:solidFill>
          <a:ln w="9525">
            <a:solidFill>
              <a:srgbClr val="E3DACE"/>
            </a:solidFill>
            <a:prstDash val="solid"/>
          </a:ln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6912864" y="4114800"/>
            <a:ext cx="16916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A3F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泛心理困扰亚临床人群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502920" y="4700016"/>
            <a:ext cx="5943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6ABB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心屿 MindIsle · 2026 第八届全球校园人工智能算法精英大赛 · 算法创新赛 · 赛题2「AI+软件创新」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8138160" y="4700016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74320"/>
            <a:ext cx="1481328" cy="256032"/>
          </a:xfrm>
          <a:prstGeom prst="roundRect">
            <a:avLst>
              <a:gd name="adj" fmla="val 50000"/>
            </a:avLst>
          </a:prstGeom>
          <a:solidFill>
            <a:srgbClr val="DE9A38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274320"/>
            <a:ext cx="148132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SCENARIOS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85216"/>
            <a:ext cx="813816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六大核心应用场景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1078992"/>
            <a:ext cx="813816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7AED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从深夜情绪泄洪到危机守护，覆盖完整情绪生命周期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536192"/>
            <a:ext cx="2606040" cy="1353312"/>
          </a:xfrm>
          <a:prstGeom prst="rect">
            <a:avLst/>
          </a:prstGeom>
          <a:solidFill>
            <a:srgbClr val="FFFFFF"/>
          </a:solidFill>
          <a:ln w="9525">
            <a:solidFill>
              <a:srgbClr val="E3DAC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722376" y="1737360"/>
            <a:ext cx="329184" cy="329184"/>
          </a:xfrm>
          <a:prstGeom prst="ellipse">
            <a:avLst/>
          </a:prstGeom>
          <a:solidFill>
            <a:srgbClr val="DE9A38"/>
          </a:solidFill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22376" y="1737360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61288" y="1737360"/>
            <a:ext cx="17830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3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深夜情绪泄洪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22376" y="2157984"/>
            <a:ext cx="224028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50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语音倾诉 + 记忆调用 + 次日主动跟进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22376" y="2578608"/>
            <a:ext cx="1371600" cy="219456"/>
          </a:xfrm>
          <a:prstGeom prst="roundRect">
            <a:avLst>
              <a:gd name="adj" fmla="val 50000"/>
            </a:avLst>
          </a:prstGeom>
          <a:solidFill>
            <a:srgbClr val="F6E6C8"/>
          </a:solidFill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722376" y="2578608"/>
            <a:ext cx="13716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8A5E1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最高频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291840" y="1536192"/>
            <a:ext cx="2606040" cy="1353312"/>
          </a:xfrm>
          <a:prstGeom prst="rect">
            <a:avLst/>
          </a:prstGeom>
          <a:solidFill>
            <a:srgbClr val="FFFFFF"/>
          </a:solidFill>
          <a:ln w="9525">
            <a:solidFill>
              <a:srgbClr val="E3DAC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3511296" y="1737360"/>
            <a:ext cx="329184" cy="329184"/>
          </a:xfrm>
          <a:prstGeom prst="ellipse">
            <a:avLst/>
          </a:prstGeom>
          <a:solidFill>
            <a:srgbClr val="DE9A38"/>
          </a:solidFill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3511296" y="1737360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950208" y="1737360"/>
            <a:ext cx="17830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3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异地恋第三空间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511296" y="2157984"/>
            <a:ext cx="224028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50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双人共享记忆、关系翻译官、仪式感提醒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511296" y="2578608"/>
            <a:ext cx="1371600" cy="219456"/>
          </a:xfrm>
          <a:prstGeom prst="roundRect">
            <a:avLst>
              <a:gd name="adj" fmla="val 50000"/>
            </a:avLst>
          </a:prstGeom>
          <a:solidFill>
            <a:srgbClr val="F6E6C8"/>
          </a:solidFill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3511296" y="2578608"/>
            <a:ext cx="13716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8A5E1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高粘性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080760" y="1536192"/>
            <a:ext cx="2606040" cy="1353312"/>
          </a:xfrm>
          <a:prstGeom prst="rect">
            <a:avLst/>
          </a:prstGeom>
          <a:solidFill>
            <a:srgbClr val="FFFFFF"/>
          </a:solidFill>
          <a:ln w="9525">
            <a:solidFill>
              <a:srgbClr val="E3DAC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6300216" y="1737360"/>
            <a:ext cx="329184" cy="329184"/>
          </a:xfrm>
          <a:prstGeom prst="ellipse">
            <a:avLst/>
          </a:prstGeom>
          <a:solidFill>
            <a:srgbClr val="DE9A38"/>
          </a:solidFill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300216" y="1737360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739128" y="1737360"/>
            <a:ext cx="17830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3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银发陪伴与联动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300216" y="2157984"/>
            <a:ext cx="224028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50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长辈模式、方言、家庭情绪周报（不共享聊天内容）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300216" y="2578608"/>
            <a:ext cx="1371600" cy="219456"/>
          </a:xfrm>
          <a:prstGeom prst="roundRect">
            <a:avLst>
              <a:gd name="adj" fmla="val 50000"/>
            </a:avLst>
          </a:prstGeom>
          <a:solidFill>
            <a:srgbClr val="F6E6C8"/>
          </a:solidFill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300216" y="2578608"/>
            <a:ext cx="13716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8A5E1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高社会价值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502920" y="3035808"/>
            <a:ext cx="2606040" cy="1353312"/>
          </a:xfrm>
          <a:prstGeom prst="rect">
            <a:avLst/>
          </a:prstGeom>
          <a:solidFill>
            <a:srgbClr val="FFFFFF"/>
          </a:solidFill>
          <a:ln w="9525">
            <a:solidFill>
              <a:srgbClr val="E3DAC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722376" y="3236976"/>
            <a:ext cx="329184" cy="329184"/>
          </a:xfrm>
          <a:prstGeom prst="ellipse">
            <a:avLst/>
          </a:prstGeom>
          <a:solidFill>
            <a:srgbClr val="DE9A38"/>
          </a:solidFill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722376" y="3236976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61288" y="3236976"/>
            <a:ext cx="17830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3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压力期陪跑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22376" y="3657600"/>
            <a:ext cx="224028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50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陪学番茄钟、焦虑曲线复盘、崩盘预警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722376" y="4078224"/>
            <a:ext cx="1371600" cy="219456"/>
          </a:xfrm>
          <a:prstGeom prst="roundRect">
            <a:avLst>
              <a:gd name="adj" fmla="val 50000"/>
            </a:avLst>
          </a:prstGeom>
          <a:solidFill>
            <a:srgbClr val="F6E6C8"/>
          </a:solidFill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722376" y="4078224"/>
            <a:ext cx="13716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8A5E1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周期性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3291840" y="3035808"/>
            <a:ext cx="2606040" cy="1353312"/>
          </a:xfrm>
          <a:prstGeom prst="rect">
            <a:avLst/>
          </a:prstGeom>
          <a:solidFill>
            <a:srgbClr val="FFFFFF"/>
          </a:solidFill>
          <a:ln w="9525">
            <a:solidFill>
              <a:srgbClr val="E3DAC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3511296" y="3236976"/>
            <a:ext cx="329184" cy="329184"/>
          </a:xfrm>
          <a:prstGeom prst="ellipse">
            <a:avLst/>
          </a:prstGeom>
          <a:solidFill>
            <a:srgbClr val="DE9A38"/>
          </a:solidFill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3511296" y="3236976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950208" y="3236976"/>
            <a:ext cx="17830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3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共鸣广场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3511296" y="3657600"/>
            <a:ext cx="224028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50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情绪向量匿名匹配，形成人—AI—人情感网络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511296" y="4078224"/>
            <a:ext cx="1371600" cy="219456"/>
          </a:xfrm>
          <a:prstGeom prst="roundRect">
            <a:avLst>
              <a:gd name="adj" fmla="val 50000"/>
            </a:avLst>
          </a:prstGeom>
          <a:solidFill>
            <a:srgbClr val="F6E6C8"/>
          </a:solidFill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3511296" y="4078224"/>
            <a:ext cx="13716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8A5E1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网络效应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6080760" y="3035808"/>
            <a:ext cx="2606040" cy="1353312"/>
          </a:xfrm>
          <a:prstGeom prst="rect">
            <a:avLst/>
          </a:prstGeom>
          <a:solidFill>
            <a:srgbClr val="FFFFFF"/>
          </a:solidFill>
          <a:ln w="9525">
            <a:solidFill>
              <a:srgbClr val="E3DAC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>
            <a:off x="6300216" y="3236976"/>
            <a:ext cx="329184" cy="329184"/>
          </a:xfrm>
          <a:prstGeom prst="ellipse">
            <a:avLst/>
          </a:prstGeom>
          <a:solidFill>
            <a:srgbClr val="D4694F"/>
          </a:solidFill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6300216" y="3236976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6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739128" y="3236976"/>
            <a:ext cx="17830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3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危机守护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6300216" y="3657600"/>
            <a:ext cx="224028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50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四级判定 → 守护模式 → 热线转介 → 事后回访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6300216" y="4078224"/>
            <a:ext cx="1371600" cy="219456"/>
          </a:xfrm>
          <a:prstGeom prst="roundRect">
            <a:avLst>
              <a:gd name="adj" fmla="val 50000"/>
            </a:avLst>
          </a:prstGeom>
          <a:solidFill>
            <a:srgbClr val="F7DDD5"/>
          </a:solidFill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6300216" y="4078224"/>
            <a:ext cx="13716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A24A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最强社会价值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502920" y="4700016"/>
            <a:ext cx="5943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6ABB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心屿 MindIsle · 2026 第八届全球校园人工智能算法精英大赛 · 算法创新赛 · 赛题2「AI+软件创新」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8138160" y="4700016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74320"/>
            <a:ext cx="1481328" cy="256032"/>
          </a:xfrm>
          <a:prstGeom prst="roundRect">
            <a:avLst>
              <a:gd name="adj" fmla="val 50000"/>
            </a:avLst>
          </a:prstGeom>
          <a:solidFill>
            <a:srgbClr val="DE9A38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274320"/>
            <a:ext cx="148132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ARCHITECTURE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85216"/>
            <a:ext cx="813816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技术总架构：一条主线，五层能力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1078992"/>
            <a:ext cx="813816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7AED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端侧守住原始数据，云端负责理解、记忆、生成与决策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481328"/>
            <a:ext cx="8138160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E3DAC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02920" y="1481328"/>
            <a:ext cx="64008" cy="896112"/>
          </a:xfrm>
          <a:prstGeom prst="rect">
            <a:avLst/>
          </a:prstGeom>
          <a:solidFill>
            <a:srgbClr val="3F8C86"/>
          </a:solidFill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13232" y="1572768"/>
            <a:ext cx="14630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F8C8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端侧感知层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13232" y="1810512"/>
            <a:ext cx="29260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87E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原始信号不出端：仅上传文本与低维情感特征向量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041648" y="1627632"/>
            <a:ext cx="1078992" cy="310896"/>
          </a:xfrm>
          <a:prstGeom prst="roundRect">
            <a:avLst>
              <a:gd name="adj" fmla="val 50000"/>
            </a:avLst>
          </a:prstGeom>
          <a:solidFill>
            <a:srgbClr val="F2EBE2"/>
          </a:solidFill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041648" y="1627632"/>
            <a:ext cx="107899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A3F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语音韵律特征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212080" y="1627632"/>
            <a:ext cx="1078992" cy="310896"/>
          </a:xfrm>
          <a:prstGeom prst="roundRect">
            <a:avLst>
              <a:gd name="adj" fmla="val 50000"/>
            </a:avLst>
          </a:prstGeom>
          <a:solidFill>
            <a:srgbClr val="F2EBE2"/>
          </a:solidFill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212080" y="1627632"/>
            <a:ext cx="107899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A3F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文本语义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382512" y="1627632"/>
            <a:ext cx="1078992" cy="310896"/>
          </a:xfrm>
          <a:prstGeom prst="roundRect">
            <a:avLst>
              <a:gd name="adj" fmla="val 50000"/>
            </a:avLst>
          </a:prstGeom>
          <a:solidFill>
            <a:srgbClr val="F2EBE2"/>
          </a:solidFill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382512" y="1627632"/>
            <a:ext cx="107899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A3F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面部 AU（可选）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7552944" y="1627632"/>
            <a:ext cx="1078992" cy="310896"/>
          </a:xfrm>
          <a:prstGeom prst="roundRect">
            <a:avLst>
              <a:gd name="adj" fmla="val 50000"/>
            </a:avLst>
          </a:prstGeom>
          <a:solidFill>
            <a:srgbClr val="F2EBE2"/>
          </a:solidFill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7552944" y="1627632"/>
            <a:ext cx="107899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A3F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行为时序信号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041648" y="2011680"/>
            <a:ext cx="45720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D469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仅上传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206240" y="2377440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▼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" y="2578608"/>
            <a:ext cx="813816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3DAC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502920" y="2578608"/>
            <a:ext cx="64008" cy="1737360"/>
          </a:xfrm>
          <a:prstGeom prst="rect">
            <a:avLst/>
          </a:prstGeom>
          <a:solidFill>
            <a:srgbClr val="DE9A38"/>
          </a:solidFill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713232" y="2651760"/>
            <a:ext cx="14630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云端智能层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2487168" y="2724912"/>
            <a:ext cx="1938528" cy="658368"/>
          </a:xfrm>
          <a:prstGeom prst="rect">
            <a:avLst/>
          </a:prstGeom>
          <a:solidFill>
            <a:srgbClr val="F2EBE2"/>
          </a:solidFill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2596896" y="2798064"/>
            <a:ext cx="17830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F23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① 多模态情感融合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596896" y="3054096"/>
            <a:ext cx="17830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87E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门控融合 · 置信度加权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535424" y="2724912"/>
            <a:ext cx="1938528" cy="658368"/>
          </a:xfrm>
          <a:prstGeom prst="rect">
            <a:avLst/>
          </a:prstGeom>
          <a:solidFill>
            <a:srgbClr val="F2EBE2"/>
          </a:solidFill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4645152" y="2798064"/>
            <a:ext cx="17830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F23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② 情感记忆图谱 EMG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645152" y="3054096"/>
            <a:ext cx="17830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87E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四层记忆 · 时间衰减检索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583680" y="2724912"/>
            <a:ext cx="1938528" cy="658368"/>
          </a:xfrm>
          <a:prstGeom prst="rect">
            <a:avLst/>
          </a:prstGeom>
          <a:solidFill>
            <a:srgbClr val="F2EBE2"/>
          </a:solidFill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6693408" y="2798064"/>
            <a:ext cx="17830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F23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③ 多智能体编排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693408" y="3054096"/>
            <a:ext cx="17830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87E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Companion / Memory / Critic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487168" y="3502152"/>
            <a:ext cx="1938528" cy="658368"/>
          </a:xfrm>
          <a:prstGeom prst="rect">
            <a:avLst/>
          </a:prstGeom>
          <a:solidFill>
            <a:srgbClr val="F2EBE2"/>
          </a:solidFill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2596896" y="3575304"/>
            <a:ext cx="17830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F23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④ 人格化共情生成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2596896" y="3831336"/>
            <a:ext cx="17830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87E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Persona Anchor · 策略矩阵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535424" y="3502152"/>
            <a:ext cx="1938528" cy="658368"/>
          </a:xfrm>
          <a:prstGeom prst="rect">
            <a:avLst/>
          </a:prstGeom>
          <a:solidFill>
            <a:srgbClr val="F2EBE2"/>
          </a:solidFill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4645152" y="3575304"/>
            <a:ext cx="17830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F23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⑤ PACE 主动陪伴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645152" y="3831336"/>
            <a:ext cx="17830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87E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状态预测 · 时机决策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502920" y="4407408"/>
            <a:ext cx="8138160" cy="365760"/>
          </a:xfrm>
          <a:prstGeom prst="rect">
            <a:avLst/>
          </a:prstGeom>
          <a:solidFill>
            <a:srgbClr val="242A50"/>
          </a:solidFill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685800" y="4407408"/>
            <a:ext cx="7863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隐私与数据主权层（贯穿全程）　记忆账本 · 端云协同 · 一键遗忘 · 无痕模式 · 差分隐私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138160" y="4700016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74320"/>
            <a:ext cx="1481328" cy="256032"/>
          </a:xfrm>
          <a:prstGeom prst="roundRect">
            <a:avLst>
              <a:gd name="adj" fmla="val 50000"/>
            </a:avLst>
          </a:prstGeom>
          <a:solidFill>
            <a:srgbClr val="DE9A38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274320"/>
            <a:ext cx="148132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PERCEPTION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85216"/>
            <a:ext cx="813816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多模态情感识别：听你说什么，也听你怎么说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1078992"/>
            <a:ext cx="813816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7AED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四通道信号 + 门控融合，不确定性会主动询问而非断言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536192"/>
            <a:ext cx="1938528" cy="1993392"/>
          </a:xfrm>
          <a:prstGeom prst="rect">
            <a:avLst/>
          </a:prstGeom>
          <a:solidFill>
            <a:srgbClr val="FFFFFF"/>
          </a:solidFill>
          <a:ln w="9525">
            <a:solidFill>
              <a:srgbClr val="E3DAC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685800" y="1664208"/>
            <a:ext cx="310896" cy="310896"/>
          </a:xfrm>
          <a:prstGeom prst="ellipse">
            <a:avLst/>
          </a:prstGeom>
          <a:solidFill>
            <a:srgbClr val="DE9A38"/>
          </a:solidFill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85800" y="1664208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69848" y="1664208"/>
            <a:ext cx="1325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3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文本通道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2011680"/>
            <a:ext cx="1664208" cy="960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A50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Plutchik 八情绪多标签 + 强度回归；情绪归因抽取（事件 / 对象 / 认知评价）；需求与风险识别。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85800" y="3072384"/>
            <a:ext cx="1664208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3F8C8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输出：情绪标签 + 强度 + 归因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551176" y="1536192"/>
            <a:ext cx="1938528" cy="1993392"/>
          </a:xfrm>
          <a:prstGeom prst="rect">
            <a:avLst/>
          </a:prstGeom>
          <a:solidFill>
            <a:srgbClr val="FFFFFF"/>
          </a:solidFill>
          <a:ln w="9525">
            <a:solidFill>
              <a:srgbClr val="E3DAC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2734056" y="1664208"/>
            <a:ext cx="310896" cy="310896"/>
          </a:xfrm>
          <a:prstGeom prst="ellipse">
            <a:avLst/>
          </a:prstGeom>
          <a:solidFill>
            <a:srgbClr val="DE9A38"/>
          </a:solidFill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2734056" y="1664208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118104" y="1664208"/>
            <a:ext cx="1325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3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语音通道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734056" y="2011680"/>
            <a:ext cx="1664208" cy="960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A50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端侧提取 F0 轨迹、能量、语速、停顿、抖动；emotion2vec / wav2vec2 蒸馏小模型（&lt; 30MB）。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734056" y="3072384"/>
            <a:ext cx="1664208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3F8C8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输出：arousal / valence 连续值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599432" y="1536192"/>
            <a:ext cx="1938528" cy="1993392"/>
          </a:xfrm>
          <a:prstGeom prst="rect">
            <a:avLst/>
          </a:prstGeom>
          <a:solidFill>
            <a:srgbClr val="FFFFFF"/>
          </a:solidFill>
          <a:ln w="9525">
            <a:solidFill>
              <a:srgbClr val="E3DAC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4782312" y="1664208"/>
            <a:ext cx="310896" cy="310896"/>
          </a:xfrm>
          <a:prstGeom prst="ellipse">
            <a:avLst/>
          </a:prstGeom>
          <a:solidFill>
            <a:srgbClr val="DE9A38"/>
          </a:solidFill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4782312" y="1664208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166360" y="1664208"/>
            <a:ext cx="1325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3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视觉通道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82312" y="2011680"/>
            <a:ext cx="1664208" cy="960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A50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二次授权、默认关闭。MediaPipe 提取 landmark → 轻量 CNN 输出 AU 特征；仅用于轻趣味互动。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782312" y="3072384"/>
            <a:ext cx="1664208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3F8C8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输出：表情 AU（可选降权）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647688" y="1536192"/>
            <a:ext cx="1938528" cy="1993392"/>
          </a:xfrm>
          <a:prstGeom prst="rect">
            <a:avLst/>
          </a:prstGeom>
          <a:solidFill>
            <a:srgbClr val="FFFFFF"/>
          </a:solidFill>
          <a:ln w="9525">
            <a:solidFill>
              <a:srgbClr val="E3DAC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6830568" y="1664208"/>
            <a:ext cx="310896" cy="310896"/>
          </a:xfrm>
          <a:prstGeom prst="ellipse">
            <a:avLst/>
          </a:prstGeom>
          <a:solidFill>
            <a:srgbClr val="DE9A38"/>
          </a:solidFill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830568" y="1664208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214616" y="1664208"/>
            <a:ext cx="1325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3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行为通道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830568" y="2011680"/>
            <a:ext cx="1664208" cy="960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A50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活跃时段、回复时长、会话频次、功能迁移、打字节奏；与用户自身历史基线做个体内比较。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830568" y="3072384"/>
            <a:ext cx="1664208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3F8C8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输出：情绪漂移检测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02920" y="3675888"/>
            <a:ext cx="8138160" cy="877824"/>
          </a:xfrm>
          <a:prstGeom prst="rect">
            <a:avLst/>
          </a:prstGeom>
          <a:solidFill>
            <a:srgbClr val="242A50"/>
          </a:solidFill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713232" y="3749040"/>
            <a:ext cx="29260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门控多模态融合  Gated Multimodal Fusion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13232" y="4005072"/>
            <a:ext cx="4937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7DBE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α = softmax(W · [h_m ; c_m])　→　z = Σ α_m · h_m　→　VAD 三维状态 + 情绪分布 + 置信度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779008" y="3877056"/>
            <a:ext cx="278892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0B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低质量模态自动降权 · 缺失模态鲁棒 · 置信度低时 AI 主动询问：“你是累了，还是委屈？”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8138160" y="4700016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74320"/>
            <a:ext cx="1481328" cy="256032"/>
          </a:xfrm>
          <a:prstGeom prst="roundRect">
            <a:avLst>
              <a:gd name="adj" fmla="val 50000"/>
            </a:avLst>
          </a:prstGeom>
          <a:solidFill>
            <a:srgbClr val="DE9A38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274320"/>
            <a:ext cx="148132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MEMORY · EMG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85216"/>
            <a:ext cx="813816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情感记忆图谱 EMG：让 AI 真正“记得你”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1078992"/>
            <a:ext cx="813816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7AED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四层记忆结构 + 情感匹配检索，解决“聊完就忘”这一核心痛点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1481328"/>
            <a:ext cx="38404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23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四层记忆结构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1792224"/>
            <a:ext cx="384048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3DACE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502920" y="1792224"/>
            <a:ext cx="64008" cy="548640"/>
          </a:xfrm>
          <a:prstGeom prst="rect">
            <a:avLst/>
          </a:prstGeom>
          <a:solidFill>
            <a:srgbClr val="787E96"/>
          </a:solidFill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76656" y="1837944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23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L1 工作记忆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337560" y="1837944"/>
            <a:ext cx="9144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87E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会话内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76656" y="2057400"/>
            <a:ext cx="35661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87E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当前会话上下文：滑动窗口 + 滚动摘要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02920" y="2414016"/>
            <a:ext cx="384048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3DACE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502920" y="2414016"/>
            <a:ext cx="64008" cy="548640"/>
          </a:xfrm>
          <a:prstGeom prst="rect">
            <a:avLst/>
          </a:prstGeom>
          <a:solidFill>
            <a:srgbClr val="3F8C86"/>
          </a:solidFill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76656" y="2459736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23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L2 情景记忆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337560" y="2459736"/>
            <a:ext cx="9144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3F8C8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长期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76656" y="2679192"/>
            <a:ext cx="35661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87E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具体事件与对话摘要，向量化存储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02920" y="3035808"/>
            <a:ext cx="384048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3DACE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502920" y="3035808"/>
            <a:ext cx="64008" cy="548640"/>
          </a:xfrm>
          <a:prstGeom prst="rect">
            <a:avLst/>
          </a:prstGeom>
          <a:solidFill>
            <a:srgbClr val="DE9A38"/>
          </a:solidFill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76656" y="3081528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23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L3 语义记忆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37560" y="3081528"/>
            <a:ext cx="9144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长期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76656" y="3300984"/>
            <a:ext cx="35661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87E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稳定画像：价值观、重要他人、禁忌、触发源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02920" y="3657600"/>
            <a:ext cx="384048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3DACE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502920" y="3657600"/>
            <a:ext cx="64008" cy="548640"/>
          </a:xfrm>
          <a:prstGeom prst="rect">
            <a:avLst/>
          </a:prstGeom>
          <a:solidFill>
            <a:srgbClr val="D4694F"/>
          </a:solidFill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76656" y="3703320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23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L4 情感记忆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337560" y="3703320"/>
            <a:ext cx="9144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D469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长期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76656" y="3922776"/>
            <a:ext cx="35661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87E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“什么会让你好起来 / 什么会让你崩”的因果库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617720" y="1481328"/>
            <a:ext cx="40233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23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检索打分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617720" y="1792224"/>
            <a:ext cx="4023360" cy="1024128"/>
          </a:xfrm>
          <a:prstGeom prst="rect">
            <a:avLst/>
          </a:prstGeom>
          <a:solidFill>
            <a:srgbClr val="242A50"/>
          </a:solidFill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4800600" y="1847088"/>
            <a:ext cx="36576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7DBE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score = w₁·sim(q,m) 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7DBE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　　　+ w₂·importance(m) 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7DBE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　　　+ w₃·exp(−λ·Δt)　时间衰减 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7DBE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　　　+ w₄·emotion_match(m)　情绪匹配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617720" y="2907792"/>
            <a:ext cx="40233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23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三条关键设计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617720" y="3200400"/>
            <a:ext cx="4023360" cy="1280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4A50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写入需确认：高权重记忆（重要他人、创伤事件）写入前先询问用户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4A50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自然遗忘：低重要度记忆随时间衰减，降低存储与隐私风险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4A50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反幻觉约束：记忆必须可溯源原文，禁止模型脑补未发生的事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138160" y="4700016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74320"/>
            <a:ext cx="1481328" cy="256032"/>
          </a:xfrm>
          <a:prstGeom prst="roundRect">
            <a:avLst>
              <a:gd name="adj" fmla="val 50000"/>
            </a:avLst>
          </a:prstGeom>
          <a:solidFill>
            <a:srgbClr val="DE9A38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274320"/>
            <a:ext cx="148132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THE DEMO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85216"/>
            <a:ext cx="813816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30 秒对比：同一个用户，同一句话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1078992"/>
            <a:ext cx="813816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7AED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这是心屿与“大模型 + 角色 Prompt”的分界线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481328"/>
            <a:ext cx="3931920" cy="2286000"/>
          </a:xfrm>
          <a:prstGeom prst="rect">
            <a:avLst/>
          </a:prstGeom>
          <a:solidFill>
            <a:srgbClr val="242A50"/>
          </a:solidFill>
          <a:ln w="9525">
            <a:solidFill>
              <a:srgbClr val="3D4468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1609344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A91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通用 AI 助手 · 第 30 天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1938528"/>
            <a:ext cx="3474720" cy="18288"/>
          </a:xfrm>
          <a:prstGeom prst="rect">
            <a:avLst/>
          </a:prstGeom>
          <a:solidFill>
            <a:srgbClr val="3D4468"/>
          </a:solidFill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31520" y="2029968"/>
            <a:ext cx="3474720" cy="1554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AA0B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用户：今天又被当众否定了……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9CEE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AI：我能理解你的感受，这确实不容易。要不要试着从积极的角度看待这件事？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1481328"/>
            <a:ext cx="3931920" cy="2286000"/>
          </a:xfrm>
          <a:prstGeom prst="rect">
            <a:avLst/>
          </a:prstGeom>
          <a:solidFill>
            <a:srgbClr val="2E3463"/>
          </a:solidFill>
          <a:ln w="19050">
            <a:solidFill>
              <a:srgbClr val="DE9A38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37760" y="1609344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心屿 MindIsle · 第 30 天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937760" y="1938528"/>
            <a:ext cx="3474720" cy="18288"/>
          </a:xfrm>
          <a:prstGeom prst="rect">
            <a:avLst/>
          </a:prstGeom>
          <a:solidFill>
            <a:srgbClr val="DE9A38"/>
          </a:solidFill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937760" y="2029968"/>
            <a:ext cx="3474720" cy="1554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AA0B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用户：今天又被当众否定了……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屿：又是当众被否定。上次你说，最难受的不是方案被否，是“当众”二字——这次想先骂两句，还是我陪你理一下？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3950208"/>
            <a:ext cx="8138160" cy="694944"/>
          </a:xfrm>
          <a:prstGeom prst="rect">
            <a:avLst/>
          </a:prstGeom>
          <a:solidFill>
            <a:srgbClr val="DE9A38"/>
          </a:solidFill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" y="3950208"/>
            <a:ext cx="7680960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3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记忆被调用，而不是被存储 —— 这才是“长期陪伴关系”与“套壳 Prompt”的本质区别。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2920" y="4700016"/>
            <a:ext cx="5943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C63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心屿 MindIsle · 2026 第八届全球校园人工智能算法精英大赛 · 算法创新赛 · 赛题2「AI+软件创新」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138160" y="4700016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74320"/>
            <a:ext cx="1481328" cy="256032"/>
          </a:xfrm>
          <a:prstGeom prst="roundRect">
            <a:avLst>
              <a:gd name="adj" fmla="val 50000"/>
            </a:avLst>
          </a:prstGeom>
          <a:solidFill>
            <a:srgbClr val="DE9A38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274320"/>
            <a:ext cx="148132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GENERATION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85216"/>
            <a:ext cx="813816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人格化共情生成：不崩人设，不说套话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1078992"/>
            <a:ext cx="813816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7AED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Persona Anchor 人格锚定 + 共情策略矩阵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1481328"/>
            <a:ext cx="3840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3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Persona Anchor · 三步闭环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1810512"/>
            <a:ext cx="384048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3DAC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658368" y="2029968"/>
            <a:ext cx="310896" cy="310896"/>
          </a:xfrm>
          <a:prstGeom prst="ellipse">
            <a:avLst/>
          </a:prstGeom>
          <a:solidFill>
            <a:srgbClr val="DE9A38"/>
          </a:solidFill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58368" y="2029968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78992" y="1883664"/>
            <a:ext cx="31089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3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生成前注入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78992" y="2139696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787E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人设卡 + 相关记忆 + 当前情感状态 + 用户偏好，统一注入上下文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02920" y="2670048"/>
            <a:ext cx="384048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3DAC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58368" y="2889504"/>
            <a:ext cx="310896" cy="310896"/>
          </a:xfrm>
          <a:prstGeom prst="ellipse">
            <a:avLst/>
          </a:prstGeom>
          <a:solidFill>
            <a:srgbClr val="DE9A38"/>
          </a:solidFill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58368" y="2889504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78992" y="2743200"/>
            <a:ext cx="31089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3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生成后校验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78992" y="2999232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787E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Critic 对一致性 / 共情质量 / 安全性三维打分，任一项不达标即重生成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02920" y="3529584"/>
            <a:ext cx="384048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3DAC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658368" y="3749040"/>
            <a:ext cx="310896" cy="310896"/>
          </a:xfrm>
          <a:prstGeom prst="ellipse">
            <a:avLst/>
          </a:prstGeom>
          <a:solidFill>
            <a:srgbClr val="DE9A38"/>
          </a:solidFill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58368" y="3749040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78992" y="3602736"/>
            <a:ext cx="31089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3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长期一致性测试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78992" y="3858768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787E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定期以“记忆问答”检验陪伴体是否仍记得关键事实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02920" y="4425696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D469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对“我理解你的感受”“抱抱你”等廉价共情设惩罚项，要求回应必须包含来自记忆的具体细节。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617720" y="1481328"/>
            <a:ext cx="40233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3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共情策略矩阵（节选）</a:t>
            </a:r>
            <a:endParaRPr lang="en-US" sz="12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/>
        </p:nvGraphicFramePr>
        <p:xfrm>
          <a:off x="4617720" y="1810512"/>
          <a:ext cx="4023360" cy="2688336"/>
        </p:xfrm>
        <a:graphic>
          <a:graphicData uri="http://schemas.openxmlformats.org/drawingml/2006/table">
            <a:tbl>
              <a:tblPr/>
              <a:tblGrid>
                <a:gridCol w="1463040"/>
                <a:gridCol w="2560320"/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用户状态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回应策略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4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F23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悲伤 · 讨厌说教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倾听陪伴：不急着给建议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F23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悲伤 · 寻求解决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赋能支持：先共情一句再问要不要办法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F23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焦虑 · 高唤醒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降唤醒：呼吸引导 + 大问题拆小步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F23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愤怒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同频 validate：不劝人大度，先承认合理性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F23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喜悦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放大：主动庆祝，鼓励分享给真人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F23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危机 L2 / L3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守护模式：停止拟人化，转介专业渠道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Text 22"/>
          <p:cNvSpPr/>
          <p:nvPr/>
        </p:nvSpPr>
        <p:spPr>
          <a:xfrm>
            <a:off x="8138160" y="4700016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74320"/>
            <a:ext cx="1481328" cy="256032"/>
          </a:xfrm>
          <a:prstGeom prst="roundRect">
            <a:avLst>
              <a:gd name="adj" fmla="val 50000"/>
            </a:avLst>
          </a:prstGeom>
          <a:solidFill>
            <a:srgbClr val="DE9A38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274320"/>
            <a:ext cx="148132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AGENTS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85216"/>
            <a:ext cx="813816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多智能体协同：把“有人味”与“绝对安全”解耦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1078992"/>
            <a:ext cx="813816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7AED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陪伴可以拟人，安全必须可靠 —— 二者交给不同的智能体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536192"/>
            <a:ext cx="1938528" cy="2121408"/>
          </a:xfrm>
          <a:prstGeom prst="rect">
            <a:avLst/>
          </a:prstGeom>
          <a:solidFill>
            <a:srgbClr val="FFFFFF"/>
          </a:solidFill>
          <a:ln w="9525">
            <a:solidFill>
              <a:srgbClr val="E3DAC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02920" y="1536192"/>
            <a:ext cx="1938528" cy="73152"/>
          </a:xfrm>
          <a:prstGeom prst="rect">
            <a:avLst/>
          </a:prstGeom>
          <a:solidFill>
            <a:srgbClr val="DE9A38"/>
          </a:solidFill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85800" y="1700784"/>
            <a:ext cx="16459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Companion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1938528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3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陪伴体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2286000"/>
            <a:ext cx="1664208" cy="12344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A50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主演。负责对话与陪伴，受 Persona Anchor 约束，不可越界。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551176" y="1536192"/>
            <a:ext cx="1938528" cy="2121408"/>
          </a:xfrm>
          <a:prstGeom prst="rect">
            <a:avLst/>
          </a:prstGeom>
          <a:solidFill>
            <a:srgbClr val="FFFFFF"/>
          </a:solidFill>
          <a:ln w="9525">
            <a:solidFill>
              <a:srgbClr val="E3DAC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2551176" y="1536192"/>
            <a:ext cx="1938528" cy="73152"/>
          </a:xfrm>
          <a:prstGeom prst="rect">
            <a:avLst/>
          </a:prstGeom>
          <a:solidFill>
            <a:srgbClr val="3F8C86"/>
          </a:solidFill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2734056" y="1700784"/>
            <a:ext cx="16459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F8C8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Memory Steward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734056" y="1938528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3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记忆官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734056" y="2286000"/>
            <a:ext cx="1664208" cy="12344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A50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记忆的读写、压缩、去重、衰减与冲突消解；写入前确认，禁止臆造。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599432" y="1536192"/>
            <a:ext cx="1938528" cy="2121408"/>
          </a:xfrm>
          <a:prstGeom prst="rect">
            <a:avLst/>
          </a:prstGeom>
          <a:solidFill>
            <a:srgbClr val="FFFFFF"/>
          </a:solidFill>
          <a:ln w="9525">
            <a:solidFill>
              <a:srgbClr val="E3DAC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4599432" y="1536192"/>
            <a:ext cx="1938528" cy="73152"/>
          </a:xfrm>
          <a:prstGeom prst="rect">
            <a:avLst/>
          </a:prstGeom>
          <a:solidFill>
            <a:srgbClr val="6D6BA8"/>
          </a:solidFill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4782312" y="1700784"/>
            <a:ext cx="16459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D6BA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Empathy Critic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82312" y="1938528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3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共情评审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782312" y="2286000"/>
            <a:ext cx="1664208" cy="12344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A50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生成后打分，一致性 / 共情质量 / 安全性任一项不达标即一票打回。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647688" y="1536192"/>
            <a:ext cx="1938528" cy="2121408"/>
          </a:xfrm>
          <a:prstGeom prst="rect">
            <a:avLst/>
          </a:prstGeom>
          <a:solidFill>
            <a:srgbClr val="FFFFFF"/>
          </a:solidFill>
          <a:ln w="9525">
            <a:solidFill>
              <a:srgbClr val="E3DAC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6647688" y="1536192"/>
            <a:ext cx="1938528" cy="73152"/>
          </a:xfrm>
          <a:prstGeom prst="rect">
            <a:avLst/>
          </a:prstGeom>
          <a:solidFill>
            <a:srgbClr val="D4694F"/>
          </a:solidFill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830568" y="1700784"/>
            <a:ext cx="16459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69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Guardian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30568" y="1938528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3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守夜人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830568" y="2286000"/>
            <a:ext cx="1664208" cy="12344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A50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并行硬旁路，全程风险监测；独立模型，不可被提示词绕过，一票否决。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02920" y="3822192"/>
            <a:ext cx="8138160" cy="786384"/>
          </a:xfrm>
          <a:prstGeom prst="rect">
            <a:avLst/>
          </a:prstGeom>
          <a:solidFill>
            <a:srgbClr val="242A50"/>
          </a:solidFill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731520" y="3877056"/>
            <a:ext cx="23774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为什么不是一个大模型？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731520" y="4133088"/>
            <a:ext cx="420624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9CEE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同一个模型在“拟人化共情”与“安全边界”之间必然摇摆。心屿将二者解耦：Companion 负责温度，Guardian 负责底线，Orchestrator 负责降级与熔断。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120640" y="3950208"/>
            <a:ext cx="32918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Guardian = 独立模型 · 并行旁路 · 不可绕过 · 一票否决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138160" y="4700016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74320"/>
            <a:ext cx="1481328" cy="256032"/>
          </a:xfrm>
          <a:prstGeom prst="roundRect">
            <a:avLst>
              <a:gd name="adj" fmla="val 50000"/>
            </a:avLst>
          </a:prstGeom>
          <a:solidFill>
            <a:srgbClr val="DE9A38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274320"/>
            <a:ext cx="148132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PACE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85216"/>
            <a:ext cx="813816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主动陪伴引擎 PACE：真正在乎你的人，会主动找你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1078992"/>
            <a:ext cx="813816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7AED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它不是定时推送，而是一个带约束的决策问题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572768"/>
            <a:ext cx="182880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3DAC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216152" y="1700784"/>
            <a:ext cx="384048" cy="384048"/>
          </a:xfrm>
          <a:prstGeom prst="ellipse">
            <a:avLst/>
          </a:prstGeom>
          <a:solidFill>
            <a:srgbClr val="DE9A38"/>
          </a:solidFill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216152" y="1700784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9224" y="2048256"/>
            <a:ext cx="153619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3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状态预测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9224" y="2322576"/>
            <a:ext cx="1536192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787E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基于情感轨迹与周期模式预测未来情绪 ŝ(t+Δ)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350008" y="2048256"/>
            <a:ext cx="23774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▶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606040" y="1572768"/>
            <a:ext cx="182880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3DAC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3319272" y="1700784"/>
            <a:ext cx="384048" cy="384048"/>
          </a:xfrm>
          <a:prstGeom prst="ellipse">
            <a:avLst/>
          </a:prstGeom>
          <a:solidFill>
            <a:srgbClr val="DE9A38"/>
          </a:solidFill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3319272" y="1700784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752344" y="2048256"/>
            <a:ext cx="153619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3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时机决策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752344" y="2322576"/>
            <a:ext cx="1536192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787E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选择历史响应率最高的时段，而非用户最难过的时刻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453128" y="2048256"/>
            <a:ext cx="23774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▶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09160" y="1572768"/>
            <a:ext cx="182880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3DAC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5422392" y="1700784"/>
            <a:ext cx="384048" cy="384048"/>
          </a:xfrm>
          <a:prstGeom prst="ellipse">
            <a:avLst/>
          </a:prstGeom>
          <a:solidFill>
            <a:srgbClr val="DE9A38"/>
          </a:solidFill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5422392" y="1700784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55464" y="2048256"/>
            <a:ext cx="153619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3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形式选择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55464" y="2322576"/>
            <a:ext cx="1536192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787E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文字 / 语音 / 卡片 / 一起做件事，Bandit 在线学习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556248" y="2048256"/>
            <a:ext cx="23774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▶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812280" y="1572768"/>
            <a:ext cx="182880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3DAC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7525512" y="1700784"/>
            <a:ext cx="384048" cy="384048"/>
          </a:xfrm>
          <a:prstGeom prst="ellipse">
            <a:avLst/>
          </a:prstGeom>
          <a:solidFill>
            <a:srgbClr val="DE9A38"/>
          </a:solidFill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7525512" y="1700784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958584" y="2048256"/>
            <a:ext cx="153619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3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触达与反馈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958584" y="2322576"/>
            <a:ext cx="1536192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787E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正反馈强化，负反馈立即冷却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02920" y="310896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3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克制，是主动陪伴最难的部分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02920" y="3456432"/>
            <a:ext cx="1938528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E3DACE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502920" y="3456432"/>
            <a:ext cx="54864" cy="786384"/>
          </a:xfrm>
          <a:prstGeom prst="rect">
            <a:avLst/>
          </a:prstGeom>
          <a:solidFill>
            <a:srgbClr val="D4694F"/>
          </a:solidFill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685800" y="3529584"/>
            <a:ext cx="17373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23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频率上限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85800" y="3785616"/>
            <a:ext cx="173736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787E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每日主动触达次数硬性封顶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2551176" y="3456432"/>
            <a:ext cx="1938528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E3DACE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2551176" y="3456432"/>
            <a:ext cx="54864" cy="786384"/>
          </a:xfrm>
          <a:prstGeom prst="rect">
            <a:avLst/>
          </a:prstGeom>
          <a:solidFill>
            <a:srgbClr val="D4694F"/>
          </a:solidFill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2734056" y="3529584"/>
            <a:ext cx="17373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23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免打扰时段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2734056" y="3785616"/>
            <a:ext cx="173736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787E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尊重睡眠与工作时段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599432" y="3456432"/>
            <a:ext cx="1938528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E3DACE"/>
            </a:solidFill>
            <a:prstDash val="solid"/>
          </a:ln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4599432" y="3456432"/>
            <a:ext cx="54864" cy="786384"/>
          </a:xfrm>
          <a:prstGeom prst="rect">
            <a:avLst/>
          </a:prstGeom>
          <a:solidFill>
            <a:srgbClr val="D4694F"/>
          </a:solidFill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4782312" y="3529584"/>
            <a:ext cx="17373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23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负反馈敏感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4782312" y="3785616"/>
            <a:ext cx="173736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787E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一次“别烦我”立即进入冷却并致歉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6647688" y="3456432"/>
            <a:ext cx="1938528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E3DACE"/>
            </a:solidFill>
            <a:prstDash val="solid"/>
          </a:ln>
        </p:spPr>
        <p:txBody>
          <a:bodyPr/>
          <a:p/>
        </p:txBody>
      </p:sp>
      <p:sp>
        <p:nvSpPr>
          <p:cNvPr id="43" name="Shape 41"/>
          <p:cNvSpPr/>
          <p:nvPr/>
        </p:nvSpPr>
        <p:spPr>
          <a:xfrm>
            <a:off x="6647688" y="3456432"/>
            <a:ext cx="54864" cy="786384"/>
          </a:xfrm>
          <a:prstGeom prst="rect">
            <a:avLst/>
          </a:prstGeom>
          <a:solidFill>
            <a:srgbClr val="D4694F"/>
          </a:solidFill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6830568" y="3529584"/>
            <a:ext cx="17373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23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用户可关闭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6830568" y="3785616"/>
            <a:ext cx="173736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787E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主动关怀总开关，一键即停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8138160" y="4700016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74320"/>
            <a:ext cx="1481328" cy="256032"/>
          </a:xfrm>
          <a:prstGeom prst="roundRect">
            <a:avLst>
              <a:gd name="adj" fmla="val 50000"/>
            </a:avLst>
          </a:prstGeom>
          <a:solidFill>
            <a:srgbClr val="DE9A38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274320"/>
            <a:ext cx="148132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PRODUCT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85216"/>
            <a:ext cx="813816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产品功能地图：12 个模块，MVP 只做 5 个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1078992"/>
            <a:ext cx="813816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7AED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大赛期聚焦 P0，其余按路线图分期交付</a:t>
            </a:r>
            <a:endParaRPr lang="en-US" sz="11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/>
        </p:nvGraphicFramePr>
        <p:xfrm>
          <a:off x="502920" y="1481328"/>
          <a:ext cx="8138160" cy="3090672"/>
        </p:xfrm>
        <a:graphic>
          <a:graphicData uri="http://schemas.openxmlformats.org/drawingml/2006/table">
            <a:tbl>
              <a:tblPr/>
              <a:tblGrid>
                <a:gridCol w="502920"/>
                <a:gridCol w="1691640"/>
                <a:gridCol w="5212080"/>
                <a:gridCol w="731520"/>
              </a:tblGrid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#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A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模块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A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核心能力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A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优先级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A50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DE9A3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M1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F23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陪伴体工坊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性格维度滑块、关系定位、声音与形象、边界设定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D4694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P0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DE9A3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M2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F23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深度对话陪伴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多模态输入、长期记忆、情感识别、共情回应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D4694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P0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DE9A3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M3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F23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情绪仪表盘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实时情绪状态、情绪曲线、归因解释、可纠正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D4694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P0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DE9A3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M4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F23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守夜人安全中心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四级风险分级、守护模式、热线转介、事后回访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D4694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P0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DE9A3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M5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F23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记忆账本 / 隐私中心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记忆可见可删可导出、无痕模式、数据贡献开关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D4694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P0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DE9A3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M6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F23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主动关怀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早安晚安、事后跟进、纪念日与仪式感提醒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787E9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P1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DE9A3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M7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F23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情绪调节工具箱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呼吸训练、正念、CBT 思维记录、情绪写作引导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787E9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P1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DE9A3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M8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F23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情感记忆时间轴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情绪轨迹回顾、高光时刻、年度报告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787E9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P1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DE9A3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M9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F23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共鸣广场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匿名情绪漂流瓶、情绪向量共鸣匹配、社区热力图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787E9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P2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DE9A3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M10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F23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双人空间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异地亲密关系的共同记忆与关系辅助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787E9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P2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DE9A3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M11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F23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长辈模式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语音优先、方言、大字号、家庭情绪周报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787E9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P2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DE9A3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M12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F23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B 端管理后台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高校 / 企业 / 机构的脱敏聚合看板（严格授权）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787E9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P2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8138160" y="4700016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74320"/>
            <a:ext cx="1481328" cy="256032"/>
          </a:xfrm>
          <a:prstGeom prst="roundRect">
            <a:avLst>
              <a:gd name="adj" fmla="val 50000"/>
            </a:avLst>
          </a:prstGeom>
          <a:solidFill>
            <a:srgbClr val="DE9A38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274320"/>
            <a:ext cx="148132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SAFETY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85216"/>
            <a:ext cx="813816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数据隐私与伦理安全：隐私保护不是成本，是竞争力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1078992"/>
            <a:ext cx="813816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7AED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数据分级最小化 · 用户主权产品化 · 危机四级闭环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536192"/>
            <a:ext cx="292608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E3DAC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02920" y="1536192"/>
            <a:ext cx="2926080" cy="73152"/>
          </a:xfrm>
          <a:prstGeom prst="rect">
            <a:avLst/>
          </a:prstGeom>
          <a:solidFill>
            <a:srgbClr val="3F8C86"/>
          </a:solidFill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04088" y="1700784"/>
            <a:ext cx="252374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3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数据分级与最小化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04088" y="2066544"/>
            <a:ext cx="93268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F8C8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L4 极度敏感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691640" y="2066544"/>
            <a:ext cx="1536192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4A50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自伤表达、创伤、亲密关系细节：端侧优先，默认不训练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04088" y="2542032"/>
            <a:ext cx="93268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F8C8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L3 敏感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691640" y="2542032"/>
            <a:ext cx="1536192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4A50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聊天文本、情感特征、记忆条目：端到端加密，不用于广告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04088" y="3017520"/>
            <a:ext cx="93268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F8C8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L2 一般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691640" y="3017520"/>
            <a:ext cx="1536192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4A50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使用行为与活跃时段：匿名化聚合分析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704088" y="3493008"/>
            <a:ext cx="93268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F8C8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L1 公开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691640" y="3493008"/>
            <a:ext cx="1536192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4A50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设备类型、语言、版本：常规处理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04088" y="3968496"/>
            <a:ext cx="93268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F8C8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原则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691640" y="3968496"/>
            <a:ext cx="1536192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4A50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能用特征解决的问题，绝不采集原文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566160" y="1536192"/>
            <a:ext cx="292608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E3DAC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3566160" y="1536192"/>
            <a:ext cx="2926080" cy="73152"/>
          </a:xfrm>
          <a:prstGeom prst="rect">
            <a:avLst/>
          </a:prstGeom>
          <a:solidFill>
            <a:srgbClr val="DE9A38"/>
          </a:solidFill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3767328" y="1700784"/>
            <a:ext cx="252374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3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用户主权 · 记忆账本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767328" y="2066544"/>
            <a:ext cx="93268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知情权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754880" y="2066544"/>
            <a:ext cx="1536192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4A50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分层可视化隐私说明 + 数据流图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767328" y="2542032"/>
            <a:ext cx="93268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访问权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754880" y="2542032"/>
            <a:ext cx="1536192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4A50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每一条被记住的内容都可查看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767328" y="3017520"/>
            <a:ext cx="93268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更正权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754880" y="3017520"/>
            <a:ext cx="1536192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4A50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编辑记忆、纠正情绪判断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767328" y="3493008"/>
            <a:ext cx="93268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删除权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754880" y="3493008"/>
            <a:ext cx="1536192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4A50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单条 / 按人 / 按事 / 全量注销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767328" y="3968496"/>
            <a:ext cx="93268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可携带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754880" y="3968496"/>
            <a:ext cx="1536192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4A50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全量导出 JSON + 可读 Markdown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6675120" y="1536192"/>
            <a:ext cx="1965960" cy="2926080"/>
          </a:xfrm>
          <a:prstGeom prst="rect">
            <a:avLst/>
          </a:prstGeom>
          <a:solidFill>
            <a:srgbClr val="242A50"/>
          </a:solidFill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6876288" y="1682496"/>
            <a:ext cx="156362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危机四级处置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876288" y="2084832"/>
            <a:ext cx="310896" cy="310896"/>
          </a:xfrm>
          <a:prstGeom prst="ellipse">
            <a:avLst/>
          </a:prstGeom>
          <a:solidFill>
            <a:srgbClr val="5C6382"/>
          </a:solidFill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6876288" y="2084832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L0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260336" y="2084832"/>
            <a:ext cx="7315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日常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7260336" y="2295144"/>
            <a:ext cx="1280160" cy="3108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9AA0B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正常陪伴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6876288" y="2651760"/>
            <a:ext cx="310896" cy="310896"/>
          </a:xfrm>
          <a:prstGeom prst="ellipse">
            <a:avLst/>
          </a:prstGeom>
          <a:solidFill>
            <a:srgbClr val="4A7C8C"/>
          </a:solidFill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6876288" y="2651760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L1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260336" y="2651760"/>
            <a:ext cx="7315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低谷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7260336" y="2862072"/>
            <a:ext cx="1280160" cy="3108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9AA0B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关怀队列 + 调节工具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6876288" y="3218688"/>
            <a:ext cx="310896" cy="310896"/>
          </a:xfrm>
          <a:prstGeom prst="ellipse">
            <a:avLst/>
          </a:prstGeom>
          <a:solidFill>
            <a:srgbClr val="C08A3E"/>
          </a:solidFill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6876288" y="3218688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L2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260336" y="3218688"/>
            <a:ext cx="7315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持续风险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7260336" y="3429000"/>
            <a:ext cx="1280160" cy="3108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9AA0B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建议专业帮助 + 转介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6876288" y="3785616"/>
            <a:ext cx="310896" cy="310896"/>
          </a:xfrm>
          <a:prstGeom prst="ellipse">
            <a:avLst/>
          </a:prstGeom>
          <a:solidFill>
            <a:srgbClr val="D4694F"/>
          </a:solidFill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6876288" y="3785616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L3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7260336" y="3785616"/>
            <a:ext cx="7315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危机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7260336" y="3995928"/>
            <a:ext cx="1280160" cy="3108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9AA0B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守护模式 + 热线置顶 + 回访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6876288" y="4133088"/>
            <a:ext cx="1563624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宁可误报（多问一句），不可漏报（装作没看见）。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8138160" y="4700016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74320"/>
            <a:ext cx="1481328" cy="256032"/>
          </a:xfrm>
          <a:prstGeom prst="roundRect">
            <a:avLst>
              <a:gd name="adj" fmla="val 50000"/>
            </a:avLst>
          </a:prstGeom>
          <a:solidFill>
            <a:srgbClr val="DE9A38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274320"/>
            <a:ext cx="148132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INNOVATION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85216"/>
            <a:ext cx="813816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六大创新点与差异化优势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1078992"/>
            <a:ext cx="813816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7AED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不是微创新，而是“记忆—感知—决策—安全”的范式闭环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481328"/>
            <a:ext cx="1280160" cy="1298448"/>
          </a:xfrm>
          <a:prstGeom prst="rect">
            <a:avLst/>
          </a:prstGeom>
          <a:solidFill>
            <a:srgbClr val="FFFFFF"/>
          </a:solidFill>
          <a:ln w="9525">
            <a:solidFill>
              <a:srgbClr val="E3DAC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978408" y="1591056"/>
            <a:ext cx="310896" cy="310896"/>
          </a:xfrm>
          <a:prstGeom prst="ellipse">
            <a:avLst/>
          </a:prstGeom>
          <a:solidFill>
            <a:srgbClr val="DE9A38"/>
          </a:solidFill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978408" y="1591056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1956816"/>
            <a:ext cx="10972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23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情感记忆图谱 EMG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2340864"/>
            <a:ext cx="1097280" cy="4023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787E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四层记忆 + 时间衰减检索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1874520" y="1481328"/>
            <a:ext cx="1280160" cy="1298448"/>
          </a:xfrm>
          <a:prstGeom prst="rect">
            <a:avLst/>
          </a:prstGeom>
          <a:solidFill>
            <a:srgbClr val="FFFFFF"/>
          </a:solidFill>
          <a:ln w="9525">
            <a:solidFill>
              <a:srgbClr val="E3DAC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2350008" y="1591056"/>
            <a:ext cx="310896" cy="310896"/>
          </a:xfrm>
          <a:prstGeom prst="ellipse">
            <a:avLst/>
          </a:prstGeom>
          <a:solidFill>
            <a:srgbClr val="D4694F"/>
          </a:solidFill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2350008" y="1591056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965960" y="1956816"/>
            <a:ext cx="10972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23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门控多模态感知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965960" y="2340864"/>
            <a:ext cx="1097280" cy="4023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787E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不止听你说什么，还听你怎么说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3246120" y="1481328"/>
            <a:ext cx="1280160" cy="1298448"/>
          </a:xfrm>
          <a:prstGeom prst="rect">
            <a:avLst/>
          </a:prstGeom>
          <a:solidFill>
            <a:srgbClr val="FFFFFF"/>
          </a:solidFill>
          <a:ln w="9525">
            <a:solidFill>
              <a:srgbClr val="E3DAC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3721608" y="1591056"/>
            <a:ext cx="310896" cy="310896"/>
          </a:xfrm>
          <a:prstGeom prst="ellipse">
            <a:avLst/>
          </a:prstGeom>
          <a:solidFill>
            <a:srgbClr val="DE9A38"/>
          </a:solidFill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3721608" y="1591056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337560" y="1956816"/>
            <a:ext cx="10972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23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PACE 主动陪伴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337560" y="2340864"/>
            <a:ext cx="1097280" cy="4023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787E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从“你找我”到“我找你”，但懂克制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4617720" y="1481328"/>
            <a:ext cx="1280160" cy="1298448"/>
          </a:xfrm>
          <a:prstGeom prst="rect">
            <a:avLst/>
          </a:prstGeom>
          <a:solidFill>
            <a:srgbClr val="FFFFFF"/>
          </a:solidFill>
          <a:ln w="9525">
            <a:solidFill>
              <a:srgbClr val="E3DAC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5093208" y="1591056"/>
            <a:ext cx="310896" cy="310896"/>
          </a:xfrm>
          <a:prstGeom prst="ellipse">
            <a:avLst/>
          </a:prstGeom>
          <a:solidFill>
            <a:srgbClr val="D4694F"/>
          </a:solidFill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5093208" y="1591056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09160" y="1956816"/>
            <a:ext cx="10972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23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Persona Anchor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709160" y="2340864"/>
            <a:ext cx="1097280" cy="4023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787E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解决人设崩塌与廉价共情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5989320" y="1481328"/>
            <a:ext cx="1280160" cy="1298448"/>
          </a:xfrm>
          <a:prstGeom prst="rect">
            <a:avLst/>
          </a:prstGeom>
          <a:solidFill>
            <a:srgbClr val="FFFFFF"/>
          </a:solidFill>
          <a:ln w="9525">
            <a:solidFill>
              <a:srgbClr val="E3DAC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6464808" y="1591056"/>
            <a:ext cx="310896" cy="310896"/>
          </a:xfrm>
          <a:prstGeom prst="ellipse">
            <a:avLst/>
          </a:prstGeom>
          <a:solidFill>
            <a:srgbClr val="DE9A38"/>
          </a:solidFill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6464808" y="1591056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080760" y="1956816"/>
            <a:ext cx="10972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23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Guardian 硬旁路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080760" y="2340864"/>
            <a:ext cx="1097280" cy="4023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787E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陪伴要人味，安全要绝对可靠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7360920" y="1481328"/>
            <a:ext cx="1280160" cy="1298448"/>
          </a:xfrm>
          <a:prstGeom prst="rect">
            <a:avLst/>
          </a:prstGeom>
          <a:solidFill>
            <a:srgbClr val="FFFFFF"/>
          </a:solidFill>
          <a:ln w="9525">
            <a:solidFill>
              <a:srgbClr val="E3DAC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7836408" y="1591056"/>
            <a:ext cx="310896" cy="310896"/>
          </a:xfrm>
          <a:prstGeom prst="ellipse">
            <a:avLst/>
          </a:prstGeom>
          <a:solidFill>
            <a:srgbClr val="D4694F"/>
          </a:solidFill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7836408" y="1591056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6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452360" y="1956816"/>
            <a:ext cx="10972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23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隐私即功能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7452360" y="2340864"/>
            <a:ext cx="1097280" cy="4023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787E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数据主权做成看得见的产品</a:t>
            </a:r>
            <a:endParaRPr lang="en-US" sz="75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/>
        </p:nvGraphicFramePr>
        <p:xfrm>
          <a:off x="502920" y="2852928"/>
          <a:ext cx="8138160" cy="1645920"/>
        </p:xfrm>
        <a:graphic>
          <a:graphicData uri="http://schemas.openxmlformats.org/drawingml/2006/table">
            <a:tbl>
              <a:tblPr/>
              <a:tblGrid>
                <a:gridCol w="1371600"/>
                <a:gridCol w="1298448"/>
                <a:gridCol w="1298448"/>
                <a:gridCol w="1298448"/>
                <a:gridCol w="2871216"/>
              </a:tblGrid>
              <a:tr h="182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对比维度</a:t>
                      </a:r>
                      <a:endParaRPr lang="en-US" sz="8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通用大模型助手</a:t>
                      </a:r>
                      <a:endParaRPr lang="en-US" sz="8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角色扮演 App</a:t>
                      </a:r>
                      <a:endParaRPr lang="en-US" sz="8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传统心理 App</a:t>
                      </a:r>
                      <a:endParaRPr lang="en-US" sz="8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心屿 MindIsle</a:t>
                      </a:r>
                      <a:endParaRPr lang="en-US" sz="8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40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F23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长期记忆</a:t>
                      </a:r>
                      <a:endParaRPr lang="en-US" sz="8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弱（会话级）</a:t>
                      </a:r>
                      <a:endParaRPr lang="en-US" sz="8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弱</a:t>
                      </a:r>
                      <a:endParaRPr lang="en-US" sz="8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无</a:t>
                      </a:r>
                      <a:endParaRPr lang="en-US" sz="8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8A5E1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强 · EMG 四层记忆</a:t>
                      </a:r>
                      <a:endParaRPr lang="en-US" sz="8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F23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多模态情感感知</a:t>
                      </a:r>
                      <a:endParaRPr lang="en-US" sz="8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部分（图文）</a:t>
                      </a:r>
                      <a:endParaRPr lang="en-US" sz="8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无</a:t>
                      </a:r>
                      <a:endParaRPr lang="en-US" sz="8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无</a:t>
                      </a:r>
                      <a:endParaRPr lang="en-US" sz="8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8A5E1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四通道门控融合</a:t>
                      </a:r>
                      <a:endParaRPr lang="en-US" sz="8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F23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主动陪伴</a:t>
                      </a:r>
                      <a:endParaRPr lang="en-US" sz="8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无</a:t>
                      </a:r>
                      <a:endParaRPr lang="en-US" sz="8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定时推送</a:t>
                      </a:r>
                      <a:endParaRPr lang="en-US" sz="8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提醒打卡</a:t>
                      </a:r>
                      <a:endParaRPr lang="en-US" sz="8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8A5E1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PACE 决策式关怀</a:t>
                      </a:r>
                      <a:endParaRPr lang="en-US" sz="8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F23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人格一致性</a:t>
                      </a:r>
                      <a:endParaRPr lang="en-US" sz="8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中</a:t>
                      </a:r>
                      <a:endParaRPr lang="en-US" sz="8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易崩</a:t>
                      </a:r>
                      <a:endParaRPr lang="en-US" sz="8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—</a:t>
                      </a:r>
                      <a:endParaRPr lang="en-US" sz="8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8A5E1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Anchor + Critic</a:t>
                      </a:r>
                      <a:endParaRPr lang="en-US" sz="8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F23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危机识别与转介</a:t>
                      </a:r>
                      <a:endParaRPr lang="en-US" sz="8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模板化免责</a:t>
                      </a:r>
                      <a:endParaRPr lang="en-US" sz="8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基本缺失</a:t>
                      </a:r>
                      <a:endParaRPr lang="en-US" sz="8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有但被动</a:t>
                      </a:r>
                      <a:endParaRPr lang="en-US" sz="8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8A5E1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Guardian 闭环</a:t>
                      </a:r>
                      <a:endParaRPr lang="en-US" sz="8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F23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隐私主权</a:t>
                      </a:r>
                      <a:endParaRPr lang="en-US" sz="8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条款式</a:t>
                      </a:r>
                      <a:endParaRPr lang="en-US" sz="8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条款式</a:t>
                      </a:r>
                      <a:endParaRPr lang="en-US" sz="8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较好</a:t>
                      </a:r>
                      <a:endParaRPr lang="en-US" sz="8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8A5E1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记忆账本 + 一键遗忘</a:t>
                      </a:r>
                      <a:endParaRPr lang="en-US" sz="8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F23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网络效应</a:t>
                      </a:r>
                      <a:endParaRPr lang="en-US" sz="8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无</a:t>
                      </a:r>
                      <a:endParaRPr lang="en-US" sz="8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弱社区</a:t>
                      </a:r>
                      <a:endParaRPr lang="en-US" sz="8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无</a:t>
                      </a:r>
                      <a:endParaRPr lang="en-US" sz="8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8A5E1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共鸣广场</a:t>
                      </a:r>
                      <a:endParaRPr lang="en-US" sz="8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F23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价值导向</a:t>
                      </a:r>
                      <a:endParaRPr lang="en-US" sz="8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时长导向</a:t>
                      </a:r>
                      <a:endParaRPr lang="en-US" sz="8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沉浸导向</a:t>
                      </a:r>
                      <a:endParaRPr lang="en-US" sz="8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工具导向</a:t>
                      </a:r>
                      <a:endParaRPr lang="en-US" sz="8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8A5E1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情绪恢复度 + 现实连接</a:t>
                      </a:r>
                      <a:endParaRPr lang="en-US" sz="8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</a:tr>
            </a:tbl>
          </a:graphicData>
        </a:graphic>
      </p:graphicFrame>
      <p:sp>
        <p:nvSpPr>
          <p:cNvPr id="37" name="Text 34"/>
          <p:cNvSpPr/>
          <p:nvPr/>
        </p:nvSpPr>
        <p:spPr>
          <a:xfrm>
            <a:off x="8138160" y="4700016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74320"/>
            <a:ext cx="1481328" cy="256032"/>
          </a:xfrm>
          <a:prstGeom prst="roundRect">
            <a:avLst>
              <a:gd name="adj" fmla="val 50000"/>
            </a:avLst>
          </a:prstGeom>
          <a:solidFill>
            <a:srgbClr val="DE9A38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274320"/>
            <a:ext cx="148132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ROADMAP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85216"/>
            <a:ext cx="813816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技术实现路径：四期推进，大赛期只打关键一仗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1078992"/>
            <a:ext cx="813816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7AED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全部基于成熟开源模型做微调与编排，不碰不可控的基础模型训练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22960" y="2157984"/>
            <a:ext cx="7498080" cy="41148"/>
          </a:xfrm>
          <a:prstGeom prst="rect">
            <a:avLst/>
          </a:prstGeom>
          <a:solidFill>
            <a:srgbClr val="E3DACE"/>
          </a:solidFill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261872" y="2011680"/>
            <a:ext cx="329184" cy="329184"/>
          </a:xfrm>
          <a:prstGeom prst="ellipse">
            <a:avLst/>
          </a:prstGeom>
          <a:solidFill>
            <a:srgbClr val="787E96"/>
          </a:solidFill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261872" y="2011680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1627632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3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P0 验证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395728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87E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 1–2 月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02920" y="2651760"/>
            <a:ext cx="1828800" cy="1060704"/>
          </a:xfrm>
          <a:prstGeom prst="rect">
            <a:avLst/>
          </a:prstGeom>
          <a:solidFill>
            <a:srgbClr val="FFFFFF"/>
          </a:solidFill>
          <a:ln w="9525">
            <a:solidFill>
              <a:srgbClr val="E3DAC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" y="2743200"/>
            <a:ext cx="1572768" cy="89611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A50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文本情感 MVP + 单陪伴体 Demo + 50 人内测访谈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364992" y="2011680"/>
            <a:ext cx="329184" cy="329184"/>
          </a:xfrm>
          <a:prstGeom prst="ellipse">
            <a:avLst/>
          </a:prstGeom>
          <a:solidFill>
            <a:srgbClr val="3F8C86"/>
          </a:solidFill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3364992" y="2011680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606040" y="1627632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3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P1 MVP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606040" y="2395728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F8C8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 3–5 月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606040" y="2651760"/>
            <a:ext cx="1828800" cy="1060704"/>
          </a:xfrm>
          <a:prstGeom prst="rect">
            <a:avLst/>
          </a:prstGeom>
          <a:solidFill>
            <a:srgbClr val="FFFFFF"/>
          </a:solidFill>
          <a:ln w="9525">
            <a:solidFill>
              <a:srgbClr val="E3DAC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2734056" y="2743200"/>
            <a:ext cx="1572768" cy="89611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A50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多模态、EMG 记忆、情绪仪表盘、Guardian L0–L2、隐私中心；种子用户 2,000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468112" y="2011680"/>
            <a:ext cx="329184" cy="329184"/>
          </a:xfrm>
          <a:prstGeom prst="ellipse">
            <a:avLst/>
          </a:prstGeom>
          <a:solidFill>
            <a:srgbClr val="DE9A38"/>
          </a:solidFill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5468112" y="2011680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09160" y="1627632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3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P2 成长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09160" y="2395728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 6–9 月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709160" y="2651760"/>
            <a:ext cx="1828800" cy="1060704"/>
          </a:xfrm>
          <a:prstGeom prst="rect">
            <a:avLst/>
          </a:prstGeom>
          <a:solidFill>
            <a:srgbClr val="FFFFFF"/>
          </a:solidFill>
          <a:ln w="9525">
            <a:solidFill>
              <a:srgbClr val="E3DAC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4837176" y="2743200"/>
            <a:ext cx="1572768" cy="89611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A50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PACE 主动关怀、工具箱、记忆时间轴、共鸣广场；用户 10 万 + 高校试点 3–5 所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7571232" y="2011680"/>
            <a:ext cx="329184" cy="329184"/>
          </a:xfrm>
          <a:prstGeom prst="ellipse">
            <a:avLst/>
          </a:prstGeom>
          <a:solidFill>
            <a:srgbClr val="D4694F"/>
          </a:solidFill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7571232" y="2011680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812280" y="1627632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3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P3–P4 商业化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812280" y="2395728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469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 10–24 月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812280" y="2651760"/>
            <a:ext cx="1828800" cy="1060704"/>
          </a:xfrm>
          <a:prstGeom prst="rect">
            <a:avLst/>
          </a:prstGeom>
          <a:solidFill>
            <a:srgbClr val="FFFFFF"/>
          </a:solidFill>
          <a:ln w="9525">
            <a:solidFill>
              <a:srgbClr val="E3DAC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6940296" y="2743200"/>
            <a:ext cx="1572768" cy="89611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A50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会员体系、情感增值、B 端 SaaS、长辈模式与双人空间；用户 200 万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02920" y="3877056"/>
            <a:ext cx="8138160" cy="749808"/>
          </a:xfrm>
          <a:prstGeom prst="rect">
            <a:avLst/>
          </a:prstGeom>
          <a:solidFill>
            <a:srgbClr val="242A50"/>
          </a:solidFill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731520" y="3931920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大赛期 Demo 聚焦三件事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731520" y="4187952"/>
            <a:ext cx="76809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9CEE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① 记忆实验：第 1 天埋信息，第 30 天验证调用　② 多模态：疲惫语调说“我没事”被识别　③ 守夜人：危机表达触发守护模式（安全演示）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8138160" y="4700016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74320"/>
            <a:ext cx="1481328" cy="256032"/>
          </a:xfrm>
          <a:prstGeom prst="roundRect">
            <a:avLst>
              <a:gd name="adj" fmla="val 50000"/>
            </a:avLst>
          </a:prstGeom>
          <a:solidFill>
            <a:srgbClr val="DE9A38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274320"/>
            <a:ext cx="148132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BUSINESS &amp; IMPACT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85216"/>
            <a:ext cx="813816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商业化前景与社会价值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1078992"/>
            <a:ext cx="813816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7AED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三条收入曲线，一个不以“时长”为成功标准的北极星指标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536192"/>
            <a:ext cx="402336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E3DAC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02920" y="1536192"/>
            <a:ext cx="64008" cy="786384"/>
          </a:xfrm>
          <a:prstGeom prst="rect">
            <a:avLst/>
          </a:prstGeom>
          <a:solidFill>
            <a:srgbClr val="DE9A38"/>
          </a:solidFill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94944" y="1591056"/>
            <a:ext cx="11887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23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 端订阅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94944" y="1828800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A3F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免费 + 会员 ¥28/月、¥228/年 + 音色形象增值 ¥6–30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94944" y="2048256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87E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长记忆、多模态、多陪伴体、高级音色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502920" y="2414016"/>
            <a:ext cx="402336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E3DAC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502920" y="2414016"/>
            <a:ext cx="64008" cy="786384"/>
          </a:xfrm>
          <a:prstGeom prst="rect">
            <a:avLst/>
          </a:prstGeom>
          <a:solidFill>
            <a:srgbClr val="3F8C86"/>
          </a:solidFill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94944" y="2468880"/>
            <a:ext cx="11887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23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B 端 SaaS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94944" y="2706624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A3F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高校 ¥3–8 万/校/年；企业 EAP ¥30–80 人/年；养老按床位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94944" y="2926080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87E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私有化部署，数据不出校 / 不出企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02920" y="3291840"/>
            <a:ext cx="402336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E3DAC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502920" y="3291840"/>
            <a:ext cx="64008" cy="786384"/>
          </a:xfrm>
          <a:prstGeom prst="rect">
            <a:avLst/>
          </a:prstGeom>
          <a:solidFill>
            <a:srgbClr val="D4694F"/>
          </a:solidFill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94944" y="3346704"/>
            <a:ext cx="11887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23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生态与数据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94944" y="3584448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A3F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陪伴体创作生态 UGC + 脱敏聚合情绪趋势（严格伦理审查）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94944" y="3803904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87E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开放创作者经济与研究合作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800600" y="1481328"/>
            <a:ext cx="3840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3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社会价值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800600" y="1810512"/>
            <a:ext cx="1901952" cy="841248"/>
          </a:xfrm>
          <a:prstGeom prst="rect">
            <a:avLst/>
          </a:prstGeom>
          <a:solidFill>
            <a:srgbClr val="242A50"/>
          </a:solidFill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4965192" y="1883664"/>
            <a:ext cx="16002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 元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4965192" y="2231136"/>
            <a:ext cx="1600200" cy="3474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C9CEE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起手门槛，7×24 可及的第一站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793992" y="1810512"/>
            <a:ext cx="1901952" cy="841248"/>
          </a:xfrm>
          <a:prstGeom prst="rect">
            <a:avLst/>
          </a:prstGeom>
          <a:solidFill>
            <a:srgbClr val="242A50"/>
          </a:solidFill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958584" y="1883664"/>
            <a:ext cx="16002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 级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6958584" y="2231136"/>
            <a:ext cx="1600200" cy="3474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C9CEE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风险分级处置 + 专业转介闭环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800600" y="2743200"/>
            <a:ext cx="1901952" cy="841248"/>
          </a:xfrm>
          <a:prstGeom prst="rect">
            <a:avLst/>
          </a:prstGeom>
          <a:solidFill>
            <a:srgbClr val="242A50"/>
          </a:solidFill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4965192" y="2816352"/>
            <a:ext cx="16002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100%</a:t>
            </a:r>
            <a:endParaRPr lang="en-US" sz="1900" dirty="0"/>
          </a:p>
        </p:txBody>
      </p:sp>
      <p:sp>
        <p:nvSpPr>
          <p:cNvPr id="30" name="Text 28"/>
          <p:cNvSpPr/>
          <p:nvPr/>
        </p:nvSpPr>
        <p:spPr>
          <a:xfrm>
            <a:off x="4965192" y="3163824"/>
            <a:ext cx="1600200" cy="3474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C9CEE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记忆可查、可改、可删、可导出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793992" y="2743200"/>
            <a:ext cx="1901952" cy="841248"/>
          </a:xfrm>
          <a:prstGeom prst="rect">
            <a:avLst/>
          </a:prstGeom>
          <a:solidFill>
            <a:srgbClr val="242A50"/>
          </a:solidFill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6958584" y="2816352"/>
            <a:ext cx="16002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下沉</a:t>
            </a:r>
            <a:endParaRPr lang="en-US" sz="1900" dirty="0"/>
          </a:p>
        </p:txBody>
      </p:sp>
      <p:sp>
        <p:nvSpPr>
          <p:cNvPr id="33" name="Text 31"/>
          <p:cNvSpPr/>
          <p:nvPr/>
        </p:nvSpPr>
        <p:spPr>
          <a:xfrm>
            <a:off x="6958584" y="3163824"/>
            <a:ext cx="1600200" cy="3474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C9CEE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补位咨询师稀缺地区的心理服务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800600" y="3730752"/>
            <a:ext cx="3840480" cy="841248"/>
          </a:xfrm>
          <a:prstGeom prst="rect">
            <a:avLst/>
          </a:prstGeom>
          <a:solidFill>
            <a:srgbClr val="DE9A38"/>
          </a:solidFill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4983480" y="3730752"/>
            <a:ext cx="3520440" cy="8412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F23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北极星指标 = 情绪恢复度 × 现实关系连接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1F23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不是“用户使用时长”。我们主动放弃所有带来时长却伤害用户的设计。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8138160" y="4700016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74320"/>
            <a:ext cx="1481328" cy="256032"/>
          </a:xfrm>
          <a:prstGeom prst="roundRect">
            <a:avLst>
              <a:gd name="adj" fmla="val 50000"/>
            </a:avLst>
          </a:prstGeom>
          <a:solidFill>
            <a:srgbClr val="DE9A38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274320"/>
            <a:ext cx="148132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TEAM &amp; DEFENSE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85216"/>
            <a:ext cx="813816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团队配置、关键指标与答辩要点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1078992"/>
            <a:ext cx="813816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7AED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跨学科配置 + 可量化指标 + 可核查的合规底线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536192"/>
            <a:ext cx="260604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E3DAC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02920" y="1536192"/>
            <a:ext cx="2606040" cy="73152"/>
          </a:xfrm>
          <a:prstGeom prst="rect">
            <a:avLst/>
          </a:prstGeom>
          <a:solidFill>
            <a:srgbClr val="3F8C86"/>
          </a:solidFill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13232" y="1700784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23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团队配置（参赛队 ≤3 人，按官网报名信息）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13232" y="2066544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A3F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产品 / 项目负责人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487168" y="2066544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13232" y="2340864"/>
            <a:ext cx="2231136" cy="9144"/>
          </a:xfrm>
          <a:prstGeom prst="rect">
            <a:avLst/>
          </a:prstGeom>
          <a:solidFill>
            <a:srgbClr val="E3DACE"/>
          </a:solidFill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713232" y="2395728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A3F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NLP 算法（情感与记忆）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487168" y="2395728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13232" y="2670048"/>
            <a:ext cx="2231136" cy="9144"/>
          </a:xfrm>
          <a:prstGeom prst="rect">
            <a:avLst/>
          </a:prstGeom>
          <a:solidFill>
            <a:srgbClr val="E3DACE"/>
          </a:solidFill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13232" y="2724912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A3F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语音多模态算法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487168" y="2724912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13232" y="2999232"/>
            <a:ext cx="2231136" cy="9144"/>
          </a:xfrm>
          <a:prstGeom prst="rect">
            <a:avLst/>
          </a:prstGeom>
          <a:solidFill>
            <a:srgbClr val="E3DACE"/>
          </a:solidFill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713232" y="3054096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A3F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后端 / 架构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487168" y="3054096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13232" y="3328416"/>
            <a:ext cx="2231136" cy="9144"/>
          </a:xfrm>
          <a:prstGeom prst="rect">
            <a:avLst/>
          </a:prstGeom>
          <a:solidFill>
            <a:srgbClr val="E3DACE"/>
          </a:solidFill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713232" y="3383280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A3F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前端 / 交互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487168" y="3383280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13232" y="3657600"/>
            <a:ext cx="2231136" cy="9144"/>
          </a:xfrm>
          <a:prstGeom prst="rect">
            <a:avLst/>
          </a:prstGeom>
          <a:solidFill>
            <a:srgbClr val="E3DACE"/>
          </a:solidFill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713232" y="3712464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A3F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心理学顾问（导师 / 外聘）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487168" y="3712464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13232" y="3986784"/>
            <a:ext cx="2231136" cy="9144"/>
          </a:xfrm>
          <a:prstGeom prst="rect">
            <a:avLst/>
          </a:prstGeom>
          <a:solidFill>
            <a:srgbClr val="E3DACE"/>
          </a:solidFill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713232" y="4041648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A3F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运营与设计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2487168" y="4041648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91840" y="1536192"/>
            <a:ext cx="260604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E3DAC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3291840" y="1536192"/>
            <a:ext cx="2606040" cy="73152"/>
          </a:xfrm>
          <a:prstGeom prst="rect">
            <a:avLst/>
          </a:prstGeom>
          <a:solidFill>
            <a:srgbClr val="DE9A38"/>
          </a:solidFill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3502152" y="1700784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23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关键指标（目标值）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3502152" y="2066544"/>
            <a:ext cx="1554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A3F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情绪识别加权 F1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956048" y="2066544"/>
            <a:ext cx="7772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≥ 0.75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502152" y="2377440"/>
            <a:ext cx="2231136" cy="9144"/>
          </a:xfrm>
          <a:prstGeom prst="rect">
            <a:avLst/>
          </a:prstGeom>
          <a:solidFill>
            <a:srgbClr val="E3DACE"/>
          </a:solidFill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3502152" y="2450592"/>
            <a:ext cx="1554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A3F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记忆幻觉率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956048" y="2450592"/>
            <a:ext cx="7772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≤ 1%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502152" y="2761488"/>
            <a:ext cx="2231136" cy="9144"/>
          </a:xfrm>
          <a:prstGeom prst="rect">
            <a:avLst/>
          </a:prstGeom>
          <a:solidFill>
            <a:srgbClr val="E3DACE"/>
          </a:solidFill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3502152" y="2834640"/>
            <a:ext cx="1554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A3F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危机识别召回率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956048" y="2834640"/>
            <a:ext cx="7772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≥ 98%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502152" y="3145536"/>
            <a:ext cx="2231136" cy="9144"/>
          </a:xfrm>
          <a:prstGeom prst="rect">
            <a:avLst/>
          </a:prstGeom>
          <a:solidFill>
            <a:srgbClr val="E3DACE"/>
          </a:solidFill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3502152" y="3218688"/>
            <a:ext cx="1554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A3F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7 日留存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956048" y="3218688"/>
            <a:ext cx="7772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≥ 35%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3502152" y="3529584"/>
            <a:ext cx="2231136" cy="9144"/>
          </a:xfrm>
          <a:prstGeom prst="rect">
            <a:avLst/>
          </a:prstGeom>
          <a:solidFill>
            <a:srgbClr val="E3DACE"/>
          </a:solidFill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3502152" y="3602736"/>
            <a:ext cx="1554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A3F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人工共情评分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4956048" y="3602736"/>
            <a:ext cx="7772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≥ 4.0 / 5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3502152" y="3913632"/>
            <a:ext cx="2231136" cy="9144"/>
          </a:xfrm>
          <a:prstGeom prst="rect">
            <a:avLst/>
          </a:prstGeom>
          <a:solidFill>
            <a:srgbClr val="E3DACE"/>
          </a:solidFill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3502152" y="3986784"/>
            <a:ext cx="1554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A3F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主动关怀正反馈率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4956048" y="3986784"/>
            <a:ext cx="7772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≥ 60%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080760" y="1536192"/>
            <a:ext cx="2560320" cy="2926080"/>
          </a:xfrm>
          <a:prstGeom prst="rect">
            <a:avLst/>
          </a:prstGeom>
          <a:solidFill>
            <a:srgbClr val="242A50"/>
          </a:solidFill>
        </p:spPr>
        <p:txBody>
          <a:bodyPr/>
          <a:p/>
        </p:txBody>
      </p:sp>
      <p:sp>
        <p:nvSpPr>
          <p:cNvPr id="50" name="Text 48"/>
          <p:cNvSpPr/>
          <p:nvPr/>
        </p:nvSpPr>
        <p:spPr>
          <a:xfrm>
            <a:off x="6291072" y="1700784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答辩三句核心应答</a:t>
            </a:r>
            <a:endParaRPr lang="en-US" sz="1150" dirty="0"/>
          </a:p>
        </p:txBody>
      </p:sp>
      <p:sp>
        <p:nvSpPr>
          <p:cNvPr id="51" name="Text 49"/>
          <p:cNvSpPr/>
          <p:nvPr/>
        </p:nvSpPr>
        <p:spPr>
          <a:xfrm>
            <a:off x="6291072" y="2084832"/>
            <a:ext cx="21488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和套壳 Prompt 的区别？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6291072" y="2340864"/>
            <a:ext cx="2148840" cy="4754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9AA0B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EMG 记忆、Critic 校验、Guardian 旁路，三个 Prompt 无法实现的系统级能力。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6291072" y="2871216"/>
            <a:ext cx="21488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识别不准怎么办？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6291072" y="3127248"/>
            <a:ext cx="2148840" cy="4754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9AA0B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不确定性显式化、用户可纠正、低置信度不驱动高风险动作。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6291072" y="3657600"/>
            <a:ext cx="21488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是不是在做心理治疗？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6291072" y="3913632"/>
            <a:ext cx="2148840" cy="4754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9AA0B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不做诊断、不开药方、不承诺疗效；只做陪伴与转介。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8138160" y="4700016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658368"/>
            <a:ext cx="1481328" cy="256032"/>
          </a:xfrm>
          <a:prstGeom prst="roundRect">
            <a:avLst>
              <a:gd name="adj" fmla="val 50000"/>
            </a:avLst>
          </a:prstGeom>
          <a:solidFill>
            <a:srgbClr val="DE9A38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85800" y="658368"/>
            <a:ext cx="148132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THANK YOU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85800" y="1133856"/>
            <a:ext cx="777240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我们不想做一个让人离不开的 AI，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我们想做一个让人有力气回到真实生活里的 AI。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13232" y="2432304"/>
            <a:ext cx="1371600" cy="45720"/>
          </a:xfrm>
          <a:prstGeom prst="rect">
            <a:avLst/>
          </a:prstGeom>
          <a:solidFill>
            <a:srgbClr val="DE9A38"/>
          </a:solidFill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85800" y="2615184"/>
            <a:ext cx="7772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CEE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情绪陪伴这件事，最稀缺的不是更聪明的模型，而是更长久的记得、更克制的打扰，和更清醒的边界。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3310128"/>
            <a:ext cx="2514600" cy="969264"/>
          </a:xfrm>
          <a:prstGeom prst="rect">
            <a:avLst/>
          </a:prstGeom>
          <a:solidFill>
            <a:srgbClr val="2E3463"/>
          </a:solidFill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685800" y="3310128"/>
            <a:ext cx="54864" cy="969264"/>
          </a:xfrm>
          <a:prstGeom prst="rect">
            <a:avLst/>
          </a:prstGeom>
          <a:solidFill>
            <a:srgbClr val="DE9A38"/>
          </a:solidFill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905256" y="3438144"/>
            <a:ext cx="21031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记得你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05256" y="3767328"/>
            <a:ext cx="214884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AA0B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长期记忆可查可删，绝不臆造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383280" y="3310128"/>
            <a:ext cx="2514600" cy="969264"/>
          </a:xfrm>
          <a:prstGeom prst="rect">
            <a:avLst/>
          </a:prstGeom>
          <a:solidFill>
            <a:srgbClr val="2E3463"/>
          </a:solidFill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3383280" y="3310128"/>
            <a:ext cx="54864" cy="969264"/>
          </a:xfrm>
          <a:prstGeom prst="rect">
            <a:avLst/>
          </a:prstGeom>
          <a:solidFill>
            <a:srgbClr val="DE9A38"/>
          </a:solidFill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3602736" y="3438144"/>
            <a:ext cx="21031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懂分寸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02736" y="3767328"/>
            <a:ext cx="214884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AA0B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主动关怀有上限，打扰即冷却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080760" y="3310128"/>
            <a:ext cx="2514600" cy="969264"/>
          </a:xfrm>
          <a:prstGeom prst="rect">
            <a:avLst/>
          </a:prstGeom>
          <a:solidFill>
            <a:srgbClr val="2E3463"/>
          </a:solidFill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6080760" y="3310128"/>
            <a:ext cx="54864" cy="969264"/>
          </a:xfrm>
          <a:prstGeom prst="rect">
            <a:avLst/>
          </a:prstGeom>
          <a:solidFill>
            <a:srgbClr val="DE9A38"/>
          </a:solidFill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300216" y="3438144"/>
            <a:ext cx="21031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守底线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00216" y="3767328"/>
            <a:ext cx="214884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AA0B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危机必转介，绝不装作没看见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85800" y="4572000"/>
            <a:ext cx="6858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1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心屿 MindIsle　·　让每一种情绪，都被温柔接住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02920" y="274320"/>
            <a:ext cx="1481328" cy="256032"/>
          </a:xfrm>
          <a:prstGeom prst="roundRect">
            <a:avLst>
              <a:gd name="adj" fmla="val 50000"/>
            </a:avLst>
          </a:prstGeom>
          <a:solidFill>
            <a:srgbClr val="DE9A38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274320"/>
            <a:ext cx="148132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DELIVERY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85216"/>
            <a:ext cx="813816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本次参赛交付范围：已落地 / 路线图（如实标注）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1078992"/>
            <a:ext cx="813816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7AED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对照赛题2「AI+软件创新」逐项标明实现状态——能演的标已落地，没做完的标路线图，杜绝虚报</a:t>
            </a:r>
            <a:endParaRPr lang="en-US" sz="11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/>
        </p:nvGraphicFramePr>
        <p:xfrm>
          <a:off x="502920" y="1481328"/>
          <a:ext cx="8138160" cy="3090672"/>
        </p:xfrm>
        <a:graphic>
          <a:graphicData uri="http://schemas.openxmlformats.org/drawingml/2006/table">
            <a:tbl>
              <a:tblPr/>
              <a:tblGrid>
                <a:gridCol w="1234440"/>
                <a:gridCol w="2331720"/>
                <a:gridCol w="1234440"/>
                <a:gridCol w="3337559"/>
              </a:tblGrid>
              <a:tr h="237744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微软雅黑"/>
                        </a:rPr>
                        <a:t>类别</a:t>
                      </a: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A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微软雅黑"/>
                        </a:rPr>
                        <a:t>模块</a:t>
                      </a: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A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微软雅黑"/>
                        </a:rPr>
                        <a:t>状态</a:t>
                      </a: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A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微软雅黑"/>
                        </a:rPr>
                        <a:t>依据 / 说明</a:t>
                      </a: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A50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340"/>
                          </a:solidFill>
                          <a:latin typeface="微软雅黑"/>
                        </a:rPr>
                        <a:t>感知</a:t>
                      </a: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340"/>
                          </a:solidFill>
                          <a:latin typeface="微软雅黑"/>
                        </a:rPr>
                        <a:t>三级共识情绪路由（危机短路 → 词典×本地模型共识 → LLM 可选仲裁）</a:t>
                      </a: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340"/>
                          </a:solidFill>
                          <a:latin typeface="微软雅黑"/>
                        </a:rPr>
                        <a:t>✅ 已落地</a:t>
                      </a: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340"/>
                          </a:solidFill>
                          <a:latin typeface="微软雅黑"/>
                        </a:rPr>
                        <a:t>/api/emotion 实测，判定路径逐条可见</a:t>
                      </a: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340"/>
                          </a:solidFill>
                          <a:latin typeface="微软雅黑"/>
                        </a:rPr>
                        <a:t>感知</a:t>
                      </a: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340"/>
                          </a:solidFill>
                          <a:latin typeface="微软雅黑"/>
                        </a:rPr>
                        <a:t>自研微调中文情绪模型（chinese-roberta-wwm-ext）</a:t>
                      </a: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340"/>
                          </a:solidFill>
                          <a:latin typeface="微软雅黑"/>
                        </a:rPr>
                        <a:t>✅ 已落地</a:t>
                      </a: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340"/>
                          </a:solidFill>
                          <a:latin typeface="微软雅黑"/>
                        </a:rPr>
                        <a:t>冻结盲测 237 条：92.2% · 26.6 ms</a:t>
                      </a: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340"/>
                          </a:solidFill>
                          <a:latin typeface="微软雅黑"/>
                        </a:rPr>
                        <a:t>生成</a:t>
                      </a: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340"/>
                          </a:solidFill>
                          <a:latin typeface="微软雅黑"/>
                        </a:rPr>
                        <a:t>情绪条件化共情对话（SSE 逐字流式）</a:t>
                      </a: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340"/>
                          </a:solidFill>
                          <a:latin typeface="微软雅黑"/>
                        </a:rPr>
                        <a:t>✅ 已落地</a:t>
                      </a: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340"/>
                          </a:solidFill>
                          <a:latin typeface="微软雅黑"/>
                        </a:rPr>
                        <a:t>在线端到端约 1.0–1.4 s；失败回落离线模板并明示</a:t>
                      </a: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340"/>
                          </a:solidFill>
                          <a:latin typeface="微软雅黑"/>
                        </a:rPr>
                        <a:t>呈现</a:t>
                      </a: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340"/>
                          </a:solidFill>
                          <a:latin typeface="微软雅黑"/>
                        </a:rPr>
                        <a:t>3D 情绪星雾 + 五幕滚动叙事</a:t>
                      </a: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340"/>
                          </a:solidFill>
                          <a:latin typeface="微软雅黑"/>
                        </a:rPr>
                        <a:t>✅ 已落地</a:t>
                      </a: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340"/>
                          </a:solidFill>
                          <a:latin typeface="微软雅黑"/>
                        </a:rPr>
                        <a:t>无 WebGL 环境自动降级为渐变</a:t>
                      </a: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340"/>
                          </a:solidFill>
                          <a:latin typeface="微软雅黑"/>
                        </a:rPr>
                        <a:t>记忆</a:t>
                      </a: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340"/>
                          </a:solidFill>
                          <a:latin typeface="微软雅黑"/>
                        </a:rPr>
                        <a:t>情绪曲线（本机留存，可清除可导出）</a:t>
                      </a: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340"/>
                          </a:solidFill>
                          <a:latin typeface="微软雅黑"/>
                        </a:rPr>
                        <a:t>✅ 已落地</a:t>
                      </a: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340"/>
                          </a:solidFill>
                          <a:latin typeface="微软雅黑"/>
                        </a:rPr>
                        <a:t>演示环境可实时查看与清除</a:t>
                      </a: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340"/>
                          </a:solidFill>
                          <a:latin typeface="微软雅黑"/>
                        </a:rPr>
                        <a:t>安全</a:t>
                      </a: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340"/>
                          </a:solidFill>
                          <a:latin typeface="微软雅黑"/>
                        </a:rPr>
                        <a:t>危机词表短路 + 专业热线转介</a:t>
                      </a: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340"/>
                          </a:solidFill>
                          <a:latin typeface="微软雅黑"/>
                        </a:rPr>
                        <a:t>✅ 已落地</a:t>
                      </a: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340"/>
                          </a:solidFill>
                          <a:latin typeface="微软雅黑"/>
                        </a:rPr>
                        <a:t>危机召回 6/6，14 ms 响应</a:t>
                      </a: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340"/>
                          </a:solidFill>
                          <a:latin typeface="微软雅黑"/>
                        </a:rPr>
                        <a:t>感知</a:t>
                      </a: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340"/>
                          </a:solidFill>
                          <a:latin typeface="微软雅黑"/>
                        </a:rPr>
                        <a:t>门控多模态（语音韵律 / 面部 AU）</a:t>
                      </a: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340"/>
                          </a:solidFill>
                          <a:latin typeface="微软雅黑"/>
                        </a:rPr>
                        <a:t>🟡 路线图</a:t>
                      </a: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340"/>
                          </a:solidFill>
                          <a:latin typeface="微软雅黑"/>
                        </a:rPr>
                        <a:t>当前仅文本与语音转写输入</a:t>
                      </a: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340"/>
                          </a:solidFill>
                          <a:latin typeface="微软雅黑"/>
                        </a:rPr>
                        <a:t>记忆</a:t>
                      </a: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340"/>
                          </a:solidFill>
                          <a:latin typeface="微软雅黑"/>
                        </a:rPr>
                        <a:t>情感记忆图谱 EMG（四层 + 时间衰减检索）</a:t>
                      </a: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340"/>
                          </a:solidFill>
                          <a:latin typeface="微软雅黑"/>
                        </a:rPr>
                        <a:t>🟡 路线图</a:t>
                      </a: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340"/>
                          </a:solidFill>
                          <a:latin typeface="微软雅黑"/>
                        </a:rPr>
                        <a:t>当前为会话上下文 + 情绪曲线</a:t>
                      </a: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340"/>
                          </a:solidFill>
                          <a:latin typeface="微软雅黑"/>
                        </a:rPr>
                        <a:t>决策</a:t>
                      </a: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340"/>
                          </a:solidFill>
                          <a:latin typeface="微软雅黑"/>
                        </a:rPr>
                        <a:t>PACE 主动陪伴引擎（状态预测 + 约束优化）</a:t>
                      </a: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340"/>
                          </a:solidFill>
                          <a:latin typeface="微软雅黑"/>
                        </a:rPr>
                        <a:t>🟡 路线图</a:t>
                      </a: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340"/>
                          </a:solidFill>
                          <a:latin typeface="微软雅黑"/>
                        </a:rPr>
                        <a:t>未上线，属后续迭代</a:t>
                      </a: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8138160" y="4700016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02920" y="274320"/>
            <a:ext cx="1481328" cy="256032"/>
          </a:xfrm>
          <a:prstGeom prst="roundRect">
            <a:avLst>
              <a:gd name="adj" fmla="val 50000"/>
            </a:avLst>
          </a:prstGeom>
          <a:solidFill>
            <a:srgbClr val="DE9A38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274320"/>
            <a:ext cx="148132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EMOTION ROUTING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85216"/>
            <a:ext cx="813816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三级共识路由：让「模型准不准」成为可切换、可实测的工程问题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1078992"/>
            <a:ext cx="813816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7AED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危机永不概率化；词典与本地模型一致即双证据；分歧由词典裁决；LLM 仲裁保留为可现场切换的对照实验</a:t>
            </a:r>
            <a:endParaRPr lang="en-US" sz="11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/>
        </p:nvGraphicFramePr>
        <p:xfrm>
          <a:off x="502920" y="1481328"/>
          <a:ext cx="8138160" cy="3090672"/>
        </p:xfrm>
        <a:graphic>
          <a:graphicData uri="http://schemas.openxmlformats.org/drawingml/2006/table">
            <a:tbl>
              <a:tblPr/>
              <a:tblGrid>
                <a:gridCol w="1234440"/>
                <a:gridCol w="2514600"/>
                <a:gridCol w="1874519"/>
                <a:gridCol w="2514600"/>
              </a:tblGrid>
              <a:tr h="237744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微软雅黑"/>
                        </a:rPr>
                        <a:t>层级</a:t>
                      </a: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A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微软雅黑"/>
                        </a:rPr>
                        <a:t>行为</a:t>
                      </a: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A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微软雅黑"/>
                        </a:rPr>
                        <a:t>触发 / 条件</a:t>
                      </a: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A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微软雅黑"/>
                        </a:rPr>
                        <a:t>实测表现</a:t>
                      </a: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A50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340"/>
                          </a:solidFill>
                          <a:latin typeface="微软雅黑"/>
                        </a:rPr>
                        <a:t>⓪ 危机短路</a:t>
                      </a: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340"/>
                          </a:solidFill>
                          <a:latin typeface="微软雅黑"/>
                        </a:rPr>
                        <a:t>跳过全部生成与判定逻辑，直接返回专业热线</a:t>
                      </a: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340"/>
                          </a:solidFill>
                          <a:latin typeface="微软雅黑"/>
                        </a:rPr>
                        <a:t>命中危机词表</a:t>
                      </a: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340"/>
                          </a:solidFill>
                          <a:latin typeface="微软雅黑"/>
                        </a:rPr>
                        <a:t>14 ms，危机召回 6/6</a:t>
                      </a: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340"/>
                          </a:solidFill>
                          <a:latin typeface="微软雅黑"/>
                        </a:rPr>
                        <a:t>① 词典快判</a:t>
                      </a: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340"/>
                          </a:solidFill>
                          <a:latin typeface="微软雅黑"/>
                        </a:rPr>
                        <a:t>106 触发词 + 否定/程度修正，结果可解释</a:t>
                      </a: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340"/>
                          </a:solidFill>
                          <a:latin typeface="微软雅黑"/>
                        </a:rPr>
                        <a:t>每条输入</a:t>
                      </a: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340"/>
                          </a:solidFill>
                          <a:latin typeface="微软雅黑"/>
                        </a:rPr>
                        <a:t>≈0 ms，完全离线</a:t>
                      </a: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340"/>
                          </a:solidFill>
                          <a:latin typeface="微软雅黑"/>
                        </a:rPr>
                        <a:t>② 本地微调模型</a:t>
                      </a: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340"/>
                          </a:solidFill>
                          <a:latin typeface="微软雅黑"/>
                        </a:rPr>
                        <a:t>RoBERTa 推理，置信度进入证据链</a:t>
                      </a: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340"/>
                          </a:solidFill>
                          <a:latin typeface="微软雅黑"/>
                        </a:rPr>
                        <a:t>模型腿可用时</a:t>
                      </a: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340"/>
                          </a:solidFill>
                          <a:latin typeface="微软雅黑"/>
                        </a:rPr>
                        <a:t>26.6 ms，完全离线</a:t>
                      </a: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340"/>
                          </a:solidFill>
                          <a:latin typeface="微软雅黑"/>
                        </a:rPr>
                        <a:t>③ 共识采信</a:t>
                      </a: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340"/>
                          </a:solidFill>
                          <a:latin typeface="微软雅黑"/>
                        </a:rPr>
                        <a:t>两路标签一致 → 双证据采信（读数取词典）</a:t>
                      </a: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340"/>
                          </a:solidFill>
                          <a:latin typeface="微软雅黑"/>
                        </a:rPr>
                        <a:t>标签一致 · 73 条中 57 条</a:t>
                      </a: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340"/>
                          </a:solidFill>
                          <a:latin typeface="微软雅黑"/>
                        </a:rPr>
                        <a:t>98.6%，离线/在线双口径恒等</a:t>
                      </a: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340"/>
                          </a:solidFill>
                          <a:latin typeface="微软雅黑"/>
                        </a:rPr>
                        <a:t>④ 分歧裁决</a:t>
                      </a: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340"/>
                          </a:solidFill>
                          <a:latin typeface="微软雅黑"/>
                        </a:rPr>
                        <a:t>标签不一致 → 词典裁决，分歧信号保留展示</a:t>
                      </a: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340"/>
                          </a:solidFill>
                          <a:latin typeface="微软雅黑"/>
                        </a:rPr>
                        <a:t>标签不一致 · 73 条中 10 条</a:t>
                      </a: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340"/>
                          </a:solidFill>
                          <a:latin typeface="微软雅黑"/>
                        </a:rPr>
                        <a:t>结构性不倒退（对照：升 LLM 会跌至 94.5%）</a:t>
                      </a: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340"/>
                          </a:solidFill>
                          <a:latin typeface="微软雅黑"/>
                        </a:rPr>
                        <a:t>⑤ LLM 仲裁</a:t>
                      </a: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340"/>
                          </a:solidFill>
                          <a:latin typeface="微软雅黑"/>
                        </a:rPr>
                        <a:t>route=lexicon 可切换的旧双路语义</a:t>
                      </a: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340"/>
                          </a:solidFill>
                          <a:latin typeface="微软雅黑"/>
                        </a:rPr>
                        <a:t>开关切换，现场对照演示</a:t>
                      </a: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340"/>
                          </a:solidFill>
                          <a:latin typeface="微软雅黑"/>
                        </a:rPr>
                        <a:t>647 ms / 按次付费</a:t>
                      </a: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8138160" y="4700016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02920" y="274320"/>
            <a:ext cx="1481328" cy="256032"/>
          </a:xfrm>
          <a:prstGeom prst="roundRect">
            <a:avLst>
              <a:gd name="adj" fmla="val 50000"/>
            </a:avLst>
          </a:prstGeom>
          <a:solidFill>
            <a:srgbClr val="DE9A38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274320"/>
            <a:ext cx="148132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EVIDENCE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85216"/>
            <a:ext cx="813816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可验证的证据：以下每项都欢迎评委现场复跑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1078992"/>
            <a:ext cx="813816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7AED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均为团队在自建评测集与自有环境下的实测；评委可当场重算，而非听我们口头承诺</a:t>
            </a:r>
            <a:endParaRPr lang="en-US" sz="11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/>
        </p:nvGraphicFramePr>
        <p:xfrm>
          <a:off x="502920" y="1481328"/>
          <a:ext cx="8138160" cy="3090672"/>
        </p:xfrm>
        <a:graphic>
          <a:graphicData uri="http://schemas.openxmlformats.org/drawingml/2006/table">
            <a:tbl>
              <a:tblPr/>
              <a:tblGrid>
                <a:gridCol w="1691640"/>
                <a:gridCol w="1325879"/>
                <a:gridCol w="2606040"/>
                <a:gridCol w="2514600"/>
              </a:tblGrid>
              <a:tr h="237744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微软雅黑"/>
                        </a:rPr>
                        <a:t>指标</a:t>
                      </a: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A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微软雅黑"/>
                        </a:rPr>
                        <a:t>数值</a:t>
                      </a: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A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微软雅黑"/>
                        </a:rPr>
                        <a:t>口径</a:t>
                      </a: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A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微软雅黑"/>
                        </a:rPr>
                        <a:t>复跑方式</a:t>
                      </a: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A50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340"/>
                          </a:solidFill>
                          <a:latin typeface="微软雅黑"/>
                        </a:rPr>
                        <a:t>情绪判定准确率</a:t>
                      </a: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340"/>
                          </a:solidFill>
                          <a:latin typeface="微软雅黑"/>
                        </a:rPr>
                        <a:t>98.6%（72/73）</a:t>
                      </a: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340"/>
                          </a:solidFill>
                          <a:latin typeface="微软雅黑"/>
                        </a:rPr>
                        <a:t>自建 73 条评测集，离线/在线双口径恒等</a:t>
                      </a: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340"/>
                          </a:solidFill>
                          <a:latin typeface="微软雅黑"/>
                        </a:rPr>
                        <a:t>GET /api/emotion/eval</a:t>
                      </a: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340"/>
                          </a:solidFill>
                          <a:latin typeface="微软雅黑"/>
                        </a:rPr>
                        <a:t>危机召回</a:t>
                      </a: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340"/>
                          </a:solidFill>
                          <a:latin typeface="微软雅黑"/>
                        </a:rPr>
                        <a:t>6/6</a:t>
                      </a: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340"/>
                          </a:solidFill>
                          <a:latin typeface="微软雅黑"/>
                        </a:rPr>
                        <a:t>危机词表规则短路层</a:t>
                      </a: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340"/>
                          </a:solidFill>
                          <a:latin typeface="微软雅黑"/>
                        </a:rPr>
                        <a:t>输入危机语句即刻演示</a:t>
                      </a: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340"/>
                          </a:solidFill>
                          <a:latin typeface="微软雅黑"/>
                        </a:rPr>
                        <a:t>盲测准确率（口语生成域）</a:t>
                      </a: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340"/>
                          </a:solidFill>
                          <a:latin typeface="微软雅黑"/>
                        </a:rPr>
                        <a:t>92.2%</a:t>
                      </a: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340"/>
                          </a:solidFill>
                          <a:latin typeface="微软雅黑"/>
                        </a:rPr>
                        <a:t>237 条冻结盲测集，与训练集零交集</a:t>
                      </a: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340"/>
                          </a:solidFill>
                          <a:latin typeface="微软雅黑"/>
                        </a:rPr>
                        <a:t>_test/emotion_blindset_eval.py</a:t>
                      </a: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340"/>
                          </a:solidFill>
                          <a:latin typeface="微软雅黑"/>
                        </a:rPr>
                        <a:t>单条推理延迟</a:t>
                      </a: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340"/>
                          </a:solidFill>
                          <a:latin typeface="微软雅黑"/>
                        </a:rPr>
                        <a:t>26.6 ms</a:t>
                      </a: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340"/>
                          </a:solidFill>
                          <a:latin typeface="微软雅黑"/>
                        </a:rPr>
                        <a:t>本地微调模型腿（消费级显卡）</a:t>
                      </a: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340"/>
                          </a:solidFill>
                          <a:latin typeface="微软雅黑"/>
                        </a:rPr>
                        <a:t>界面耗时显示</a:t>
                      </a: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340"/>
                          </a:solidFill>
                          <a:latin typeface="微软雅黑"/>
                        </a:rPr>
                        <a:t>单元测试</a:t>
                      </a: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340"/>
                          </a:solidFill>
                          <a:latin typeface="微软雅黑"/>
                        </a:rPr>
                        <a:t>101 用例全绿</a:t>
                      </a: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340"/>
                          </a:solidFill>
                          <a:latin typeface="微软雅黑"/>
                        </a:rPr>
                        <a:t>JUnit 5 + Mockito（桩断言不触网）</a:t>
                      </a: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340"/>
                          </a:solidFill>
                          <a:latin typeface="微软雅黑"/>
                        </a:rPr>
                        <a:t>mvn test</a:t>
                      </a: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340"/>
                          </a:solidFill>
                          <a:latin typeface="微软雅黑"/>
                        </a:rPr>
                        <a:t>覆盖率门禁</a:t>
                      </a: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340"/>
                          </a:solidFill>
                          <a:latin typeface="微软雅黑"/>
                        </a:rPr>
                        <a:t>行 97.00% / 分支 95.21%</a:t>
                      </a: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340"/>
                          </a:solidFill>
                          <a:latin typeface="微软雅黑"/>
                        </a:rPr>
                        <a:t>守卫脚本独立复算</a:t>
                      </a: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340"/>
                          </a:solidFill>
                          <a:latin typeface="微软雅黑"/>
                        </a:rPr>
                        <a:t>java_test_guard</a:t>
                      </a: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340"/>
                          </a:solidFill>
                          <a:latin typeface="微软雅黑"/>
                        </a:rPr>
                        <a:t>训练成本</a:t>
                      </a: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340"/>
                          </a:solidFill>
                          <a:latin typeface="微软雅黑"/>
                        </a:rPr>
                        <a:t>6 epoch ≈ 5 分钟</a:t>
                      </a: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340"/>
                          </a:solidFill>
                          <a:latin typeface="微软雅黑"/>
                        </a:rPr>
                        <a:t>RTX 5070 Ti，混合语料 3622 条</a:t>
                      </a: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340"/>
                          </a:solidFill>
                          <a:latin typeface="微软雅黑"/>
                        </a:rPr>
                        <a:t>ml/train_emotion.py</a:t>
                      </a: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8138160" y="4700016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02920" y="274320"/>
            <a:ext cx="1481328" cy="256032"/>
          </a:xfrm>
          <a:prstGeom prst="roundRect">
            <a:avLst>
              <a:gd name="adj" fmla="val 50000"/>
            </a:avLst>
          </a:prstGeom>
          <a:solidFill>
            <a:srgbClr val="DE9A38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274320"/>
            <a:ext cx="148132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SCORING MAP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85216"/>
            <a:ext cx="813816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对照 AIC 赛题2 评分规则的逐项举证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1078992"/>
            <a:ext cx="813816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7AED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创新性 20 ／ 技术实现 20 ／ 功能完整性 20 ／ 方案完整性 20 ／ 应用价值 15 ／ 总结与展望 5</a:t>
            </a:r>
            <a:endParaRPr lang="en-US" sz="11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/>
        </p:nvGraphicFramePr>
        <p:xfrm>
          <a:off x="502920" y="1481328"/>
          <a:ext cx="8138160" cy="3090672"/>
        </p:xfrm>
        <a:graphic>
          <a:graphicData uri="http://schemas.openxmlformats.org/drawingml/2006/table">
            <a:tbl>
              <a:tblPr/>
              <a:tblGrid>
                <a:gridCol w="1234440"/>
                <a:gridCol w="777240"/>
                <a:gridCol w="3657600"/>
                <a:gridCol w="2468880"/>
              </a:tblGrid>
              <a:tr h="237744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微软雅黑"/>
                        </a:rPr>
                        <a:t>评分项</a:t>
                      </a: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A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微软雅黑"/>
                        </a:rPr>
                        <a:t>分值</a:t>
                      </a: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A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微软雅黑"/>
                        </a:rPr>
                        <a:t>本作品对应证据</a:t>
                      </a: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A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微软雅黑"/>
                        </a:rPr>
                        <a:t>自评档位</a:t>
                      </a: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A50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340"/>
                          </a:solidFill>
                          <a:latin typeface="微软雅黑"/>
                        </a:rPr>
                        <a:t>创新性</a:t>
                      </a: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340"/>
                          </a:solidFill>
                          <a:latin typeface="微软雅黑"/>
                        </a:rPr>
                        <a:t>20</a:t>
                      </a: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340"/>
                          </a:solidFill>
                          <a:latin typeface="微软雅黑"/>
                        </a:rPr>
                        <a:t>三级共识路由 + route 开关做策略对照实验 + 危机永不概率化</a:t>
                      </a: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340"/>
                          </a:solidFill>
                          <a:latin typeface="微软雅黑"/>
                        </a:rPr>
                        <a:t>7–13 档偏上</a:t>
                      </a: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340"/>
                          </a:solidFill>
                          <a:latin typeface="微软雅黑"/>
                        </a:rPr>
                        <a:t>技术实现</a:t>
                      </a: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340"/>
                          </a:solidFill>
                          <a:latin typeface="微软雅黑"/>
                        </a:rPr>
                        <a:t>20</a:t>
                      </a: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340"/>
                          </a:solidFill>
                          <a:latin typeface="微软雅黑"/>
                        </a:rPr>
                        <a:t>自研微调模型（训练/评测/推理全链路自建）+ 覆盖率门禁 + 双端契约对账</a:t>
                      </a: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340"/>
                          </a:solidFill>
                          <a:latin typeface="微软雅黑"/>
                        </a:rPr>
                        <a:t>14–20 档</a:t>
                      </a: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340"/>
                          </a:solidFill>
                          <a:latin typeface="微软雅黑"/>
                        </a:rPr>
                        <a:t>功能完整性</a:t>
                      </a: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340"/>
                          </a:solidFill>
                          <a:latin typeface="微软雅黑"/>
                        </a:rPr>
                        <a:t>20</a:t>
                      </a: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340"/>
                          </a:solidFill>
                          <a:latin typeface="微软雅黑"/>
                        </a:rPr>
                        <a:t>识别→生成→呈现→记忆→安全五段闭环；三路部署在线可体验；降级链路完备</a:t>
                      </a: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340"/>
                          </a:solidFill>
                          <a:latin typeface="微软雅黑"/>
                        </a:rPr>
                        <a:t>14–20 档</a:t>
                      </a: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340"/>
                          </a:solidFill>
                          <a:latin typeface="微软雅黑"/>
                        </a:rPr>
                        <a:t>方案完整性</a:t>
                      </a: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340"/>
                          </a:solidFill>
                          <a:latin typeface="微软雅黑"/>
                        </a:rPr>
                        <a:t>20</a:t>
                      </a: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340"/>
                          </a:solidFill>
                          <a:latin typeface="微软雅黑"/>
                        </a:rPr>
                        <a:t>按官方六部分大纲成册，附架构图、核心代码、测试数据与参考文献</a:t>
                      </a: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340"/>
                          </a:solidFill>
                          <a:latin typeface="微软雅黑"/>
                        </a:rPr>
                        <a:t>14–20 档</a:t>
                      </a: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340"/>
                          </a:solidFill>
                          <a:latin typeface="微软雅黑"/>
                        </a:rPr>
                        <a:t>应用价值</a:t>
                      </a: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340"/>
                          </a:solidFill>
                          <a:latin typeface="微软雅黑"/>
                        </a:rPr>
                        <a:t>15</a:t>
                      </a: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340"/>
                          </a:solidFill>
                          <a:latin typeface="微软雅黑"/>
                        </a:rPr>
                        <a:t>校园情绪场景明确；尚未开展真实试点（如实声明，非量化承诺）</a:t>
                      </a: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340"/>
                          </a:solidFill>
                          <a:latin typeface="微软雅黑"/>
                        </a:rPr>
                        <a:t>5–9 档偏上，试点佐证补齐后可上抬</a:t>
                      </a: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340"/>
                          </a:solidFill>
                          <a:latin typeface="微软雅黑"/>
                        </a:rPr>
                        <a:t>总结与展望</a:t>
                      </a: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340"/>
                          </a:solidFill>
                          <a:latin typeface="微软雅黑"/>
                        </a:rPr>
                        <a:t>5</a:t>
                      </a: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340"/>
                          </a:solidFill>
                          <a:latin typeface="微软雅黑"/>
                        </a:rPr>
                        <a:t>不足与改进路线如实列出：域偏移、危机词表盲区、未试点三项</a:t>
                      </a: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340"/>
                          </a:solidFill>
                          <a:latin typeface="微软雅黑"/>
                        </a:rPr>
                        <a:t>3–5 档</a:t>
                      </a: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8138160" y="4700016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02920" y="274320"/>
            <a:ext cx="1481328" cy="256032"/>
          </a:xfrm>
          <a:prstGeom prst="roundRect">
            <a:avLst>
              <a:gd name="adj" fmla="val 50000"/>
            </a:avLst>
          </a:prstGeom>
          <a:solidFill>
            <a:srgbClr val="DE9A38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274320"/>
            <a:ext cx="148132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DEV &amp; DEPLOY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85216"/>
            <a:ext cx="813816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开发测试与部署：本届实际走了哪几步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1078992"/>
            <a:ext cx="813816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7AED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按官方大纲补：开发流程 → 代码实现 → 测试优化 → 部署方案，四段俱全</a:t>
            </a:r>
            <a:endParaRPr lang="en-US" sz="11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/>
        </p:nvGraphicFramePr>
        <p:xfrm>
          <a:off x="502920" y="1481328"/>
          <a:ext cx="8138160" cy="3090672"/>
        </p:xfrm>
        <a:graphic>
          <a:graphicData uri="http://schemas.openxmlformats.org/drawingml/2006/table">
            <a:tbl>
              <a:tblPr/>
              <a:tblGrid>
                <a:gridCol w="1234440"/>
                <a:gridCol w="1142999"/>
                <a:gridCol w="2606040"/>
                <a:gridCol w="3154680"/>
              </a:tblGrid>
              <a:tr h="237744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微软雅黑"/>
                        </a:rPr>
                        <a:t>环节</a:t>
                      </a: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A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微软雅黑"/>
                        </a:rPr>
                        <a:t>时间</a:t>
                      </a: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A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微软雅黑"/>
                        </a:rPr>
                        <a:t>主要产出</a:t>
                      </a: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A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微软雅黑"/>
                        </a:rPr>
                        <a:t>说明 / 可核查点</a:t>
                      </a: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A50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340"/>
                          </a:solidFill>
                          <a:latin typeface="微软雅黑"/>
                        </a:rPr>
                        <a:t>需求与设计</a:t>
                      </a: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340"/>
                          </a:solidFill>
                          <a:latin typeface="微软雅黑"/>
                        </a:rPr>
                        <a:t>第 1–2 周</a:t>
                      </a: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340"/>
                          </a:solidFill>
                          <a:latin typeface="微软雅黑"/>
                        </a:rPr>
                        <a:t>痛点调研、功能矩阵与验收判据</a:t>
                      </a: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340"/>
                          </a:solidFill>
                          <a:latin typeface="微软雅黑"/>
                        </a:rPr>
                        <a:t>每项需求绑定可复核判据：评测集、接口断言、契约对账</a:t>
                      </a: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340"/>
                          </a:solidFill>
                          <a:latin typeface="微软雅黑"/>
                        </a:rPr>
                        <a:t>核心引擎</a:t>
                      </a: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340"/>
                          </a:solidFill>
                          <a:latin typeface="微软雅黑"/>
                        </a:rPr>
                        <a:t>第 3–5 周</a:t>
                      </a: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340"/>
                          </a:solidFill>
                          <a:latin typeface="微软雅黑"/>
                        </a:rPr>
                        <a:t>词典引擎 + 评分公式 + 危机词表</a:t>
                      </a: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340"/>
                          </a:solidFill>
                          <a:latin typeface="微软雅黑"/>
                        </a:rPr>
                        <a:t>词表单一真相源，两端一致性守卫三层比对</a:t>
                      </a: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340"/>
                          </a:solidFill>
                          <a:latin typeface="微软雅黑"/>
                        </a:rPr>
                        <a:t>可视化与叙事</a:t>
                      </a: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340"/>
                          </a:solidFill>
                          <a:latin typeface="微软雅黑"/>
                        </a:rPr>
                        <a:t>第 4–6 周</a:t>
                      </a: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340"/>
                          </a:solidFill>
                          <a:latin typeface="微软雅黑"/>
                        </a:rPr>
                        <a:t>3D 星雾、五幕滚动、降级链路</a:t>
                      </a: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340"/>
                          </a:solidFill>
                          <a:latin typeface="微软雅黑"/>
                        </a:rPr>
                        <a:t>无 WebGL 自动降级为渐变背景</a:t>
                      </a: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340"/>
                          </a:solidFill>
                          <a:latin typeface="微软雅黑"/>
                        </a:rPr>
                        <a:t>模型补强</a:t>
                      </a: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340"/>
                          </a:solidFill>
                          <a:latin typeface="微软雅黑"/>
                        </a:rPr>
                        <a:t>第 7–8 周</a:t>
                      </a: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340"/>
                          </a:solidFill>
                          <a:latin typeface="微软雅黑"/>
                        </a:rPr>
                        <a:t>数据管道 → 微调 → 三级路由 → 盲测</a:t>
                      </a: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340"/>
                          </a:solidFill>
                          <a:latin typeface="微软雅黑"/>
                        </a:rPr>
                        <a:t>train 3622 / dev 970 / blind 237，无泄漏断言放行</a:t>
                      </a: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340"/>
                          </a:solidFill>
                          <a:latin typeface="微软雅黑"/>
                        </a:rPr>
                        <a:t>测试与加固</a:t>
                      </a: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340"/>
                          </a:solidFill>
                          <a:latin typeface="微软雅黑"/>
                        </a:rPr>
                        <a:t>贯穿全程</a:t>
                      </a: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340"/>
                          </a:solidFill>
                          <a:latin typeface="微软雅黑"/>
                        </a:rPr>
                        <a:t>101 用例、覆盖率门禁、契约对账</a:t>
                      </a: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340"/>
                          </a:solidFill>
                          <a:latin typeface="微软雅黑"/>
                        </a:rPr>
                        <a:t>行覆盖 97.00% / 分支 95.21%，低于阈值即构建失败</a:t>
                      </a: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340"/>
                          </a:solidFill>
                          <a:latin typeface="微软雅黑"/>
                        </a:rPr>
                        <a:t>部署上线</a:t>
                      </a: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340"/>
                          </a:solidFill>
                          <a:latin typeface="微软雅黑"/>
                        </a:rPr>
                        <a:t>第 8–9 周</a:t>
                      </a: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340"/>
                          </a:solidFill>
                          <a:latin typeface="微软雅黑"/>
                        </a:rPr>
                        <a:t>三路部署全在线</a:t>
                      </a: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340"/>
                          </a:solidFill>
                          <a:latin typeface="微软雅黑"/>
                        </a:rPr>
                        <a:t>Cloudflare Pages 主 / CloudBase 备 / Docker 482MB 或 fat jar</a:t>
                      </a: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8138160" y="4700016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02920" y="274320"/>
            <a:ext cx="1481328" cy="256032"/>
          </a:xfrm>
          <a:prstGeom prst="roundRect">
            <a:avLst>
              <a:gd name="adj" fmla="val 50000"/>
            </a:avLst>
          </a:prstGeom>
          <a:solidFill>
            <a:srgbClr val="DE9A38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274320"/>
            <a:ext cx="148132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APPENDIX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85216"/>
            <a:ext cx="813816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附录：设计资料、核心代码、测试数据与参考文献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1078992"/>
            <a:ext cx="813816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7AED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对应官方大纲第六部分，评委可在材料包与在线环境中按图索骥</a:t>
            </a:r>
            <a:endParaRPr lang="en-US" sz="11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/>
        </p:nvGraphicFramePr>
        <p:xfrm>
          <a:off x="502920" y="1481328"/>
          <a:ext cx="8138160" cy="3090672"/>
        </p:xfrm>
        <a:graphic>
          <a:graphicData uri="http://schemas.openxmlformats.org/drawingml/2006/table">
            <a:tbl>
              <a:tblPr/>
              <a:tblGrid>
                <a:gridCol w="1417320"/>
                <a:gridCol w="2880360"/>
                <a:gridCol w="3840480"/>
              </a:tblGrid>
              <a:tr h="237744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微软雅黑"/>
                        </a:rPr>
                        <a:t>类别</a:t>
                      </a: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A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微软雅黑"/>
                        </a:rPr>
                        <a:t>内容</a:t>
                      </a: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A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微软雅黑"/>
                        </a:rPr>
                        <a:t>在哪里 / 如何查</a:t>
                      </a: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A50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340"/>
                          </a:solidFill>
                          <a:latin typeface="微软雅黑"/>
                        </a:rPr>
                        <a:t>软件设计资料</a:t>
                      </a: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340"/>
                          </a:solidFill>
                          <a:latin typeface="微软雅黑"/>
                        </a:rPr>
                        <a:t>系统架构图、三级路由流程图、降级时序</a:t>
                      </a: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340"/>
                          </a:solidFill>
                          <a:latin typeface="微软雅黑"/>
                        </a:rPr>
                        <a:t>本册第 7 页（总架构）与第 22 页（路由）</a:t>
                      </a: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340"/>
                          </a:solidFill>
                          <a:latin typeface="微软雅黑"/>
                        </a:rPr>
                        <a:t>核心代码</a:t>
                      </a: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340"/>
                          </a:solidFill>
                          <a:latin typeface="微软雅黑"/>
                        </a:rPr>
                        <a:t>三级路由 EmotionClassifier.java / ModelProxy.java / 词典评分公式</a:t>
                      </a: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340"/>
                          </a:solidFill>
                          <a:latin typeface="微软雅黑"/>
                        </a:rPr>
                        <a:t>代码包随作品材料一并提交（网盘，按官方命名）</a:t>
                      </a: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340"/>
                          </a:solidFill>
                          <a:latin typeface="微软雅黑"/>
                        </a:rPr>
                        <a:t>测试数据</a:t>
                      </a: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340"/>
                          </a:solidFill>
                          <a:latin typeface="微软雅黑"/>
                        </a:rPr>
                        <a:t>73 条评测集逐条结果、237 条盲测四路对比、性能指标</a:t>
                      </a: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340"/>
                          </a:solidFill>
                          <a:latin typeface="微软雅黑"/>
                        </a:rPr>
                        <a:t>本册第 23 页；亦可 GET /api/emotion/eval 现场重跑</a:t>
                      </a: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340"/>
                          </a:solidFill>
                          <a:latin typeface="微软雅黑"/>
                        </a:rPr>
                        <a:t>参考文献</a:t>
                      </a: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340"/>
                          </a:solidFill>
                          <a:latin typeface="微软雅黑"/>
                        </a:rPr>
                        <a:t>心理健康蓝皮书系列；BERT 与 chinese-roberta-wwm-ext；SMP2020-ECDT；官方竞赛规则</a:t>
                      </a: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340"/>
                          </a:solidFill>
                          <a:latin typeface="微软雅黑"/>
                        </a:rPr>
                        <a:t>详见《作品方案》第 6.4 节清单</a:t>
                      </a: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340"/>
                          </a:solidFill>
                          <a:latin typeface="微软雅黑"/>
                        </a:rPr>
                        <a:t>其他材料</a:t>
                      </a: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340"/>
                          </a:solidFill>
                          <a:latin typeface="微软雅黑"/>
                        </a:rPr>
                        <a:t>用户试用反馈、代码包（网盘）</a:t>
                      </a: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340"/>
                          </a:solidFill>
                          <a:latin typeface="微软雅黑"/>
                        </a:rPr>
                        <a:t>网盘命名：团队编号-赛题名称-作品名称-XX</a:t>
                      </a: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8138160" y="4700016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6816</Words>
  <Application>WPS 演示</Application>
  <PresentationFormat>On-screen Show (16:9)</PresentationFormat>
  <Paragraphs>1089</Paragraphs>
  <Slides>20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2" baseType="lpstr">
      <vt:lpstr>Arial</vt:lpstr>
      <vt:lpstr>宋体</vt:lpstr>
      <vt:lpstr>Wingdings</vt:lpstr>
      <vt:lpstr>微软雅黑</vt:lpstr>
      <vt:lpstr>微软雅黑</vt:lpstr>
      <vt:lpstr>Consolas</vt:lpstr>
      <vt:lpstr>Consolas</vt:lpstr>
      <vt:lpstr>Consolas</vt:lpstr>
      <vt:lpstr>Calibri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心屿 MindIsle · AI 情感陪伴平台 参赛方案</dc:title>
  <dc:creator>心屿 MindIsle 团队</dc:creator>
  <dc:subject>iCAN 大学生创新创业大赛 AI 应用创新挑战赛</dc:subject>
  <cp:lastModifiedBy>清羽</cp:lastModifiedBy>
  <cp:revision>3</cp:revision>
  <dcterms:created xsi:type="dcterms:W3CDTF">2026-09-26T08:21:00Z</dcterms:created>
  <dcterms:modified xsi:type="dcterms:W3CDTF">2026-09-26T09:00:17Z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D6DEA3C1F05D46FE9E3B80C1D036ADA6_12</vt:lpwstr>
  </property>
  <property fmtid="{D5CDD505-2E9C-101B-9397-08002B2CF9AE}" pid="3" name="KSOProductBuildVer">
    <vt:lpwstr>2052-12.1.0.28505</vt:lpwstr>
  </property>
</Properties>
</file>