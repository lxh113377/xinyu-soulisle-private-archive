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85800" y="658368"/>
            <a:ext cx="3657600" cy="274320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4" name="Text 2"/>
          <p:cNvSpPr/>
          <p:nvPr/>
        </p:nvSpPr>
        <p:spPr>
          <a:xfrm>
            <a:off x="685800" y="65836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应用创新挑战赛 · 互联网 · 情感陪伴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5800" y="1078992"/>
            <a:ext cx="6400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心屿  MindIsle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1956816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让每一种情绪，都被温柔接住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13232" y="2542032"/>
            <a:ext cx="1371600" cy="45720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8" name="Text 6"/>
          <p:cNvSpPr/>
          <p:nvPr/>
        </p:nvSpPr>
        <p:spPr>
          <a:xfrm>
            <a:off x="685800" y="2706624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E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多模态情感感知 + 长期记忆驱动的 AI 个性化陪伴平台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035808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不做“会聊天的工具”，做“记得你、懂你、但知道分寸”的长期陪伴关系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4041648"/>
            <a:ext cx="4206240" cy="18288"/>
          </a:xfrm>
          <a:prstGeom prst="rect">
            <a:avLst/>
          </a:prstGeom>
          <a:solidFill>
            <a:srgbClr val="3D4468"/>
          </a:solidFill>
        </p:spPr>
      </p:sp>
      <p:sp>
        <p:nvSpPr>
          <p:cNvPr id="11" name="Text 9"/>
          <p:cNvSpPr/>
          <p:nvPr/>
        </p:nvSpPr>
        <p:spPr>
          <a:xfrm>
            <a:off x="685800" y="4160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参赛团队：心屿 MindIsle 团队    ｜    汇报日期：2026 年 9 月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ONE PAGE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一页速览：心屿是什么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评委 30 秒即可建立整体认知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02920" y="1481328"/>
          <a:ext cx="8138160" cy="2916936"/>
        </p:xfrm>
        <a:graphic>
          <a:graphicData uri="http://schemas.openxmlformats.org/drawingml/2006/table">
            <a:tbl>
              <a:tblPr/>
              <a:tblGrid>
                <a:gridCol w="1371600"/>
                <a:gridCol w="6766560"/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维度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内容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项目名称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心屿 MindIsle ｜ 让每一种情绪，都被温柔接住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解决痛点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① 聊完就忘 ② 数据当燃料 ③ 风险无接住 ④ 求助门槛高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项目定位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记得你、懂你、知道分寸的 AI 陪伴关系平台（非工具、非诊疗）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核心方案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多模态感知 → EMG 记忆 → 共情生成 → PACE 主动陪伴 → Guardian 守护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技术亮点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门控多模态融合 / 时间衰减分层记忆 / Persona Anchor / 多智能体协同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产品形态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Web + 小程序 + App 三端一体，记忆与关系全端同步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目标用户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18–28 岁 Z 世代为核心；延展异地亲密关系与银发空巢人群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商业模式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 端订阅 + 情感增值 + B 端（高校 / 企业 / 养老）SaaS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社会价值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降低求助门槛、危机早识别与转介、补位下沉市场心理服务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合规底线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敏感信息单独同意、记忆可查可删、AI 显著标识、危机必转介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700016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6AB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心屿 MindIsle · iCAN 大学生创新创业大赛 AI 应用创新挑战赛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PAIN POINTS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为什么现在是机会窗口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孤独感成为时代性情绪，但现有方案在四个环节集体失守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402336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36192"/>
            <a:ext cx="64008" cy="1444752"/>
          </a:xfrm>
          <a:prstGeom prst="rect">
            <a:avLst/>
          </a:prstGeom>
          <a:solidFill>
            <a:srgbClr val="D4694F"/>
          </a:solidFill>
        </p:spPr>
      </p:sp>
      <p:sp>
        <p:nvSpPr>
          <p:cNvPr id="8" name="Shape 6"/>
          <p:cNvSpPr/>
          <p:nvPr/>
        </p:nvSpPr>
        <p:spPr>
          <a:xfrm>
            <a:off x="740664" y="1755648"/>
            <a:ext cx="365760" cy="365760"/>
          </a:xfrm>
          <a:prstGeom prst="ellipse">
            <a:avLst/>
          </a:prstGeom>
          <a:solidFill>
            <a:srgbClr val="D4694F"/>
          </a:solidFill>
        </p:spPr>
      </p:sp>
      <p:sp>
        <p:nvSpPr>
          <p:cNvPr id="9" name="Text 7"/>
          <p:cNvSpPr/>
          <p:nvPr/>
        </p:nvSpPr>
        <p:spPr>
          <a:xfrm>
            <a:off x="740664" y="175564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16152" y="1737360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聊完就忘，关系无沉淀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40664" y="2176272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主流产品 = 大模型 + 角色 Prompt，跨会话记忆薄弱，第三周仍在重复提问；留存呈“三日断崖”。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536192"/>
            <a:ext cx="402336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536192"/>
            <a:ext cx="64008" cy="1444752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14" name="Shape 12"/>
          <p:cNvSpPr/>
          <p:nvPr/>
        </p:nvSpPr>
        <p:spPr>
          <a:xfrm>
            <a:off x="4855464" y="1755648"/>
            <a:ext cx="365760" cy="365760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15" name="Text 13"/>
          <p:cNvSpPr/>
          <p:nvPr/>
        </p:nvSpPr>
        <p:spPr>
          <a:xfrm>
            <a:off x="4855464" y="175564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30952" y="1737360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情绪数据被当作燃料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55464" y="2176272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倾诉含亲密关系、家庭创伤等高敏信息；多数产品未提供“可见 / 可删 / 可导出”，默认用于训练。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127248"/>
            <a:ext cx="402336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127248"/>
            <a:ext cx="64008" cy="1444752"/>
          </a:xfrm>
          <a:prstGeom prst="rect">
            <a:avLst/>
          </a:prstGeom>
          <a:solidFill>
            <a:srgbClr val="D4694F"/>
          </a:solidFill>
        </p:spPr>
      </p:sp>
      <p:sp>
        <p:nvSpPr>
          <p:cNvPr id="20" name="Shape 18"/>
          <p:cNvSpPr/>
          <p:nvPr/>
        </p:nvSpPr>
        <p:spPr>
          <a:xfrm>
            <a:off x="740664" y="3346704"/>
            <a:ext cx="365760" cy="365760"/>
          </a:xfrm>
          <a:prstGeom prst="ellipse">
            <a:avLst/>
          </a:prstGeom>
          <a:solidFill>
            <a:srgbClr val="D4694F"/>
          </a:solidFill>
        </p:spPr>
      </p:sp>
      <p:sp>
        <p:nvSpPr>
          <p:cNvPr id="21" name="Text 19"/>
          <p:cNvSpPr/>
          <p:nvPr/>
        </p:nvSpPr>
        <p:spPr>
          <a:xfrm>
            <a:off x="740664" y="33467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16152" y="3328416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风险信号无人接住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0664" y="3767328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深夜极端表达只换来模板化回复“建议寻求专业帮助”；无分级识别、无转介闭环、无事后回访。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3127248"/>
            <a:ext cx="402336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3127248"/>
            <a:ext cx="64008" cy="1444752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26" name="Shape 24"/>
          <p:cNvSpPr/>
          <p:nvPr/>
        </p:nvSpPr>
        <p:spPr>
          <a:xfrm>
            <a:off x="4855464" y="3346704"/>
            <a:ext cx="365760" cy="365760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27" name="Text 25"/>
          <p:cNvSpPr/>
          <p:nvPr/>
        </p:nvSpPr>
        <p:spPr>
          <a:xfrm>
            <a:off x="4855464" y="33467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30952" y="3328416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求助门槛居高不下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855464" y="3767328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心理咨询存在价格、病耻感、地域供给三重门槛；大量需求停在“想说但不知跟谁说”。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700016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6AB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心屿 MindIsle · iCAN 大学生创新创业大赛 AI 应用创新挑战赛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POSITIONING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项目定位：三条不可越界的边界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边界不是限制，而是心屿区别于所有同类产品的价值宣言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26060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36192"/>
            <a:ext cx="2606040" cy="91440"/>
          </a:xfrm>
          <a:prstGeom prst="rect">
            <a:avLst/>
          </a:prstGeom>
          <a:solidFill>
            <a:srgbClr val="3F8C86"/>
          </a:solidFill>
        </p:spPr>
      </p:sp>
      <p:sp>
        <p:nvSpPr>
          <p:cNvPr id="8" name="Text 6"/>
          <p:cNvSpPr/>
          <p:nvPr/>
        </p:nvSpPr>
        <p:spPr>
          <a:xfrm>
            <a:off x="758952" y="178308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Bridge, not Replace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8952" y="210312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桥梁而非替代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58952" y="2578608"/>
            <a:ext cx="822960" cy="27432"/>
          </a:xfrm>
          <a:prstGeom prst="rect">
            <a:avLst/>
          </a:prstGeom>
          <a:solidFill>
            <a:srgbClr val="3F8C86"/>
          </a:solidFill>
        </p:spPr>
      </p:sp>
      <p:sp>
        <p:nvSpPr>
          <p:cNvPr id="11" name="Text 9"/>
          <p:cNvSpPr/>
          <p:nvPr/>
        </p:nvSpPr>
        <p:spPr>
          <a:xfrm>
            <a:off x="758952" y="2706624"/>
            <a:ext cx="214884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不以替代真实人际关系为目标。北极星指标是“情绪恢复度 × 现实关系连接”，不是使用时长。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536192"/>
            <a:ext cx="26060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536192"/>
            <a:ext cx="2606040" cy="91440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14" name="Text 12"/>
          <p:cNvSpPr/>
          <p:nvPr/>
        </p:nvSpPr>
        <p:spPr>
          <a:xfrm>
            <a:off x="3547872" y="178308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Companion, not Doctor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47872" y="210312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陪伴而非诊疗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547872" y="2578608"/>
            <a:ext cx="822960" cy="27432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17" name="Text 15"/>
          <p:cNvSpPr/>
          <p:nvPr/>
        </p:nvSpPr>
        <p:spPr>
          <a:xfrm>
            <a:off x="3547872" y="2706624"/>
            <a:ext cx="214884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不做心理诊断、不开药方、不承诺疗效。只做倾听、陪伴、情绪调节工具与专业转介。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0760" y="1536192"/>
            <a:ext cx="26060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536192"/>
            <a:ext cx="2606040" cy="91440"/>
          </a:xfrm>
          <a:prstGeom prst="rect">
            <a:avLst/>
          </a:prstGeom>
          <a:solidFill>
            <a:srgbClr val="D4694F"/>
          </a:solidFill>
        </p:spPr>
      </p:sp>
      <p:sp>
        <p:nvSpPr>
          <p:cNvPr id="20" name="Text 18"/>
          <p:cNvSpPr/>
          <p:nvPr/>
        </p:nvSpPr>
        <p:spPr>
          <a:xfrm>
            <a:off x="6336792" y="178308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69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Steward, not Miner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36792" y="210312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管家而非矿工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336792" y="2578608"/>
            <a:ext cx="822960" cy="27432"/>
          </a:xfrm>
          <a:prstGeom prst="rect">
            <a:avLst/>
          </a:prstGeom>
          <a:solidFill>
            <a:srgbClr val="D4694F"/>
          </a:solidFill>
        </p:spPr>
      </p:sp>
      <p:sp>
        <p:nvSpPr>
          <p:cNvPr id="23" name="Text 21"/>
          <p:cNvSpPr/>
          <p:nvPr/>
        </p:nvSpPr>
        <p:spPr>
          <a:xfrm>
            <a:off x="6336792" y="2706624"/>
            <a:ext cx="214884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情绪数据所有权归用户。默认不用于训练，全部记忆可查可删可导出，用户是唯一主权者。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700016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6AB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心屿 MindIsle · iCAN 大学生创新创业大赛 AI 应用创新挑战赛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USERS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目标用户画像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 18–28 岁 Z 世代为切口，向两端人群延展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260604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36192"/>
            <a:ext cx="2606040" cy="475488"/>
          </a:xfrm>
          <a:prstGeom prst="rect">
            <a:avLst/>
          </a:prstGeom>
          <a:solidFill>
            <a:srgbClr val="242A50"/>
          </a:solidFill>
        </p:spPr>
      </p:sp>
      <p:sp>
        <p:nvSpPr>
          <p:cNvPr id="8" name="Text 6"/>
          <p:cNvSpPr/>
          <p:nvPr/>
        </p:nvSpPr>
        <p:spPr>
          <a:xfrm>
            <a:off x="722376" y="1536192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小满 · 21 岁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194560" y="1536192"/>
            <a:ext cx="914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异地求学大三学生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22376" y="212140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典型特征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2376" y="2322576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宿舍关系平淡，朋友圈不敢发负面情绪；23:00–01:00 为情绪低潮期。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22376" y="274320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核心需求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22376" y="2944368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不被评判的倾听者；希望被记住、被主动关心。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22376" y="336499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付费意愿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22376" y="3566160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月付费敏感区 15–35 元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0" y="1536192"/>
            <a:ext cx="260604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536192"/>
            <a:ext cx="2606040" cy="475488"/>
          </a:xfrm>
          <a:prstGeom prst="rect">
            <a:avLst/>
          </a:prstGeom>
          <a:solidFill>
            <a:srgbClr val="242A50"/>
          </a:solidFill>
        </p:spPr>
      </p:sp>
      <p:sp>
        <p:nvSpPr>
          <p:cNvPr id="18" name="Text 16"/>
          <p:cNvSpPr/>
          <p:nvPr/>
        </p:nvSpPr>
        <p:spPr>
          <a:xfrm>
            <a:off x="3511296" y="1536192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阿哲 · 25 岁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83480" y="1536192"/>
            <a:ext cx="914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独居职场新人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11296" y="212140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典型特征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11296" y="2322576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996 节奏，合租零社交，报喜不报忧；通勤与加班深夜为高频倾诉时段。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11296" y="274320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核心需求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11296" y="2944368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低门槛语音输入、即时疏导、不愿被说教。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11296" y="336499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付费意愿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11296" y="3566160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视作情绪刚需，付费意愿较高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80760" y="1536192"/>
            <a:ext cx="260604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1536192"/>
            <a:ext cx="2606040" cy="475488"/>
          </a:xfrm>
          <a:prstGeom prst="rect">
            <a:avLst/>
          </a:prstGeom>
          <a:solidFill>
            <a:srgbClr val="242A50"/>
          </a:solidFill>
        </p:spPr>
      </p:sp>
      <p:sp>
        <p:nvSpPr>
          <p:cNvPr id="28" name="Text 26"/>
          <p:cNvSpPr/>
          <p:nvPr/>
        </p:nvSpPr>
        <p:spPr>
          <a:xfrm>
            <a:off x="6300216" y="1536192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晚晴 · 19 岁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772400" y="1536192"/>
            <a:ext cx="914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代际桥梁使用者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00216" y="212140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典型特征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00216" y="2322576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为独居在老家的奶奶配置陪伴体，通过“家庭情绪周报”了解长辈状态。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00216" y="274320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核心需求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0216" y="2944368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语音优先、方言友好、异常情绪自动通知子女。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00216" y="336499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付费意愿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00216" y="3566160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代付意愿强，价格敏感度低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2920" y="4133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延展人群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481328" y="411480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2EBE2"/>
          </a:solidFill>
          <a:ln w="9525">
            <a:solidFill>
              <a:srgbClr val="E3DAC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81328" y="411480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异地亲密关系人群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91840" y="411480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2EBE2"/>
          </a:solidFill>
          <a:ln w="9525">
            <a:solidFill>
              <a:srgbClr val="E3DAC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411480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银发空巢人群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102352" y="411480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2EBE2"/>
          </a:solidFill>
          <a:ln w="9525">
            <a:solidFill>
              <a:srgbClr val="E3DAC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02352" y="411480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高压职业群体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912864" y="411480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2EBE2"/>
          </a:solidFill>
          <a:ln w="9525">
            <a:solidFill>
              <a:srgbClr val="E3DAC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12864" y="411480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泛心理困扰亚临床人群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02920" y="4700016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6AB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心屿 MindIsle · iCAN 大学生创新创业大赛 AI 应用创新挑战赛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SCENARIOS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六大核心应用场景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从深夜情绪泄洪到危机守护，覆盖完整情绪生命周期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260604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2376" y="1737360"/>
            <a:ext cx="329184" cy="329184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8" name="Text 6"/>
          <p:cNvSpPr/>
          <p:nvPr/>
        </p:nvSpPr>
        <p:spPr>
          <a:xfrm>
            <a:off x="722376" y="17373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61288" y="1737360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深夜情绪泄洪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2376" y="2157984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语音倾诉 + 记忆调用 + 次日主动跟进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22376" y="2578608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F6E6C8"/>
          </a:solidFill>
        </p:spPr>
      </p:sp>
      <p:sp>
        <p:nvSpPr>
          <p:cNvPr id="12" name="Text 10"/>
          <p:cNvSpPr/>
          <p:nvPr/>
        </p:nvSpPr>
        <p:spPr>
          <a:xfrm>
            <a:off x="722376" y="2578608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最高频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91840" y="1536192"/>
            <a:ext cx="260604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11296" y="1737360"/>
            <a:ext cx="329184" cy="329184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15" name="Text 13"/>
          <p:cNvSpPr/>
          <p:nvPr/>
        </p:nvSpPr>
        <p:spPr>
          <a:xfrm>
            <a:off x="3511296" y="17373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50208" y="1737360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异地恋第三空间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11296" y="2157984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双人共享记忆、关系翻译官、仪式感提醒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11296" y="2578608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F6E6C8"/>
          </a:solidFill>
        </p:spPr>
      </p:sp>
      <p:sp>
        <p:nvSpPr>
          <p:cNvPr id="19" name="Text 17"/>
          <p:cNvSpPr/>
          <p:nvPr/>
        </p:nvSpPr>
        <p:spPr>
          <a:xfrm>
            <a:off x="3511296" y="2578608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高粘性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80760" y="1536192"/>
            <a:ext cx="260604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0216" y="1737360"/>
            <a:ext cx="329184" cy="329184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22" name="Text 20"/>
          <p:cNvSpPr/>
          <p:nvPr/>
        </p:nvSpPr>
        <p:spPr>
          <a:xfrm>
            <a:off x="6300216" y="17373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39128" y="1737360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银发陪伴与联动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0216" y="2157984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长辈模式、方言、家庭情绪周报（不共享聊天内容）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00216" y="2578608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F6E6C8"/>
          </a:solidFill>
        </p:spPr>
      </p:sp>
      <p:sp>
        <p:nvSpPr>
          <p:cNvPr id="26" name="Text 24"/>
          <p:cNvSpPr/>
          <p:nvPr/>
        </p:nvSpPr>
        <p:spPr>
          <a:xfrm>
            <a:off x="6300216" y="2578608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高社会价值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2920" y="3035808"/>
            <a:ext cx="260604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2376" y="3236976"/>
            <a:ext cx="329184" cy="329184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29" name="Text 27"/>
          <p:cNvSpPr/>
          <p:nvPr/>
        </p:nvSpPr>
        <p:spPr>
          <a:xfrm>
            <a:off x="722376" y="323697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61288" y="3236976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压力期陪跑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2376" y="365760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陪学番茄钟、焦虑曲线复盘、崩盘预警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22376" y="4078224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F6E6C8"/>
          </a:solidFill>
        </p:spPr>
      </p:sp>
      <p:sp>
        <p:nvSpPr>
          <p:cNvPr id="33" name="Text 31"/>
          <p:cNvSpPr/>
          <p:nvPr/>
        </p:nvSpPr>
        <p:spPr>
          <a:xfrm>
            <a:off x="722376" y="4078224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周期性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91840" y="3035808"/>
            <a:ext cx="260604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511296" y="3236976"/>
            <a:ext cx="329184" cy="329184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36" name="Text 34"/>
          <p:cNvSpPr/>
          <p:nvPr/>
        </p:nvSpPr>
        <p:spPr>
          <a:xfrm>
            <a:off x="3511296" y="323697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950208" y="3236976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共鸣广场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511296" y="365760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情绪向量匿名匹配，形成人—AI—人情感网络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511296" y="4078224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F6E6C8"/>
          </a:solidFill>
        </p:spPr>
      </p:sp>
      <p:sp>
        <p:nvSpPr>
          <p:cNvPr id="40" name="Text 38"/>
          <p:cNvSpPr/>
          <p:nvPr/>
        </p:nvSpPr>
        <p:spPr>
          <a:xfrm>
            <a:off x="3511296" y="4078224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网络效应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080760" y="3035808"/>
            <a:ext cx="260604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00216" y="3236976"/>
            <a:ext cx="329184" cy="329184"/>
          </a:xfrm>
          <a:prstGeom prst="ellipse">
            <a:avLst/>
          </a:prstGeom>
          <a:solidFill>
            <a:srgbClr val="D4694F"/>
          </a:solidFill>
        </p:spPr>
      </p:sp>
      <p:sp>
        <p:nvSpPr>
          <p:cNvPr id="43" name="Text 41"/>
          <p:cNvSpPr/>
          <p:nvPr/>
        </p:nvSpPr>
        <p:spPr>
          <a:xfrm>
            <a:off x="6300216" y="323697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39128" y="3236976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危机守护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300216" y="365760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四级判定 → 守护模式 → 热线转介 → 事后回访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300216" y="4078224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F7DDD5"/>
          </a:solidFill>
        </p:spPr>
      </p:sp>
      <p:sp>
        <p:nvSpPr>
          <p:cNvPr id="47" name="Text 45"/>
          <p:cNvSpPr/>
          <p:nvPr/>
        </p:nvSpPr>
        <p:spPr>
          <a:xfrm>
            <a:off x="6300216" y="4078224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24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最强社会价值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02920" y="4700016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6AB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心屿 MindIsle · iCAN 大学生创新创业大赛 AI 应用创新挑战赛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技术总架构：一条主线，五层能力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端侧守住原始数据，云端负责理解、记忆、生成与决策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81328"/>
            <a:ext cx="64008" cy="896112"/>
          </a:xfrm>
          <a:prstGeom prst="rect">
            <a:avLst/>
          </a:prstGeom>
          <a:solidFill>
            <a:srgbClr val="3F8C86"/>
          </a:solidFill>
        </p:spPr>
      </p:sp>
      <p:sp>
        <p:nvSpPr>
          <p:cNvPr id="8" name="Text 6"/>
          <p:cNvSpPr/>
          <p:nvPr/>
        </p:nvSpPr>
        <p:spPr>
          <a:xfrm>
            <a:off x="713232" y="157276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端侧感知层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13232" y="1810512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原始信号不出端：仅上传文本与低维情感特征向量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041648" y="1627632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F2EBE2"/>
          </a:solidFill>
        </p:spPr>
      </p:sp>
      <p:sp>
        <p:nvSpPr>
          <p:cNvPr id="11" name="Text 9"/>
          <p:cNvSpPr/>
          <p:nvPr/>
        </p:nvSpPr>
        <p:spPr>
          <a:xfrm>
            <a:off x="4041648" y="1627632"/>
            <a:ext cx="10789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语音韵律特征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212080" y="1627632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F2EBE2"/>
          </a:solidFill>
        </p:spPr>
      </p:sp>
      <p:sp>
        <p:nvSpPr>
          <p:cNvPr id="13" name="Text 11"/>
          <p:cNvSpPr/>
          <p:nvPr/>
        </p:nvSpPr>
        <p:spPr>
          <a:xfrm>
            <a:off x="5212080" y="1627632"/>
            <a:ext cx="10789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文本语义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382512" y="1627632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F2EBE2"/>
          </a:solidFill>
        </p:spPr>
      </p:sp>
      <p:sp>
        <p:nvSpPr>
          <p:cNvPr id="15" name="Text 13"/>
          <p:cNvSpPr/>
          <p:nvPr/>
        </p:nvSpPr>
        <p:spPr>
          <a:xfrm>
            <a:off x="6382512" y="1627632"/>
            <a:ext cx="10789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面部 AU（可选）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552944" y="1627632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F2EBE2"/>
          </a:solidFill>
        </p:spPr>
      </p:sp>
      <p:sp>
        <p:nvSpPr>
          <p:cNvPr id="17" name="Text 15"/>
          <p:cNvSpPr/>
          <p:nvPr/>
        </p:nvSpPr>
        <p:spPr>
          <a:xfrm>
            <a:off x="7552944" y="1627632"/>
            <a:ext cx="10789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行为时序信号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041648" y="201168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D469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仅上传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06240" y="237744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578608"/>
            <a:ext cx="81381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2578608"/>
            <a:ext cx="64008" cy="1737360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22" name="Text 20"/>
          <p:cNvSpPr/>
          <p:nvPr/>
        </p:nvSpPr>
        <p:spPr>
          <a:xfrm>
            <a:off x="713232" y="2651760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云端智能层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487168" y="2724912"/>
            <a:ext cx="1938528" cy="658368"/>
          </a:xfrm>
          <a:prstGeom prst="rect">
            <a:avLst/>
          </a:prstGeom>
          <a:solidFill>
            <a:srgbClr val="F2EBE2"/>
          </a:solidFill>
        </p:spPr>
      </p:sp>
      <p:sp>
        <p:nvSpPr>
          <p:cNvPr id="24" name="Text 22"/>
          <p:cNvSpPr/>
          <p:nvPr/>
        </p:nvSpPr>
        <p:spPr>
          <a:xfrm>
            <a:off x="2596896" y="2798064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多模态情感融合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96896" y="3054096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门控融合 · 置信度加权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35424" y="2724912"/>
            <a:ext cx="1938528" cy="658368"/>
          </a:xfrm>
          <a:prstGeom prst="rect">
            <a:avLst/>
          </a:prstGeom>
          <a:solidFill>
            <a:srgbClr val="F2EBE2"/>
          </a:solidFill>
        </p:spPr>
      </p:sp>
      <p:sp>
        <p:nvSpPr>
          <p:cNvPr id="27" name="Text 25"/>
          <p:cNvSpPr/>
          <p:nvPr/>
        </p:nvSpPr>
        <p:spPr>
          <a:xfrm>
            <a:off x="4645152" y="2798064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情感记忆图谱 EMG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45152" y="3054096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四层记忆 · 时间衰减检索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583680" y="2724912"/>
            <a:ext cx="1938528" cy="658368"/>
          </a:xfrm>
          <a:prstGeom prst="rect">
            <a:avLst/>
          </a:prstGeom>
          <a:solidFill>
            <a:srgbClr val="F2EBE2"/>
          </a:solidFill>
        </p:spPr>
      </p:sp>
      <p:sp>
        <p:nvSpPr>
          <p:cNvPr id="30" name="Text 28"/>
          <p:cNvSpPr/>
          <p:nvPr/>
        </p:nvSpPr>
        <p:spPr>
          <a:xfrm>
            <a:off x="6693408" y="2798064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多智能体编排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693408" y="3054096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Companion / Memory / Critic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87168" y="3502152"/>
            <a:ext cx="1938528" cy="658368"/>
          </a:xfrm>
          <a:prstGeom prst="rect">
            <a:avLst/>
          </a:prstGeom>
          <a:solidFill>
            <a:srgbClr val="F2EBE2"/>
          </a:solidFill>
        </p:spPr>
      </p:sp>
      <p:sp>
        <p:nvSpPr>
          <p:cNvPr id="33" name="Text 31"/>
          <p:cNvSpPr/>
          <p:nvPr/>
        </p:nvSpPr>
        <p:spPr>
          <a:xfrm>
            <a:off x="2596896" y="3575304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人格化共情生成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596896" y="3831336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Persona Anchor · 策略矩阵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35424" y="3502152"/>
            <a:ext cx="1938528" cy="658368"/>
          </a:xfrm>
          <a:prstGeom prst="rect">
            <a:avLst/>
          </a:prstGeom>
          <a:solidFill>
            <a:srgbClr val="F2EBE2"/>
          </a:solidFill>
        </p:spPr>
      </p:sp>
      <p:sp>
        <p:nvSpPr>
          <p:cNvPr id="36" name="Text 34"/>
          <p:cNvSpPr/>
          <p:nvPr/>
        </p:nvSpPr>
        <p:spPr>
          <a:xfrm>
            <a:off x="4645152" y="3575304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⑤ PACE 主动陪伴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45152" y="3831336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状态预测 · 时机决策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02920" y="4407408"/>
            <a:ext cx="8138160" cy="365760"/>
          </a:xfrm>
          <a:prstGeom prst="rect">
            <a:avLst/>
          </a:prstGeom>
          <a:solidFill>
            <a:srgbClr val="242A50"/>
          </a:solidFill>
        </p:spPr>
      </p:sp>
      <p:sp>
        <p:nvSpPr>
          <p:cNvPr id="39" name="Text 37"/>
          <p:cNvSpPr/>
          <p:nvPr/>
        </p:nvSpPr>
        <p:spPr>
          <a:xfrm>
            <a:off x="685800" y="4407408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隐私与数据主权层（贯穿全程）　记忆账本 · 端云协同 · 一键遗忘 · 无痕模式 · 差分隐私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PERCEPTION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多模态情感识别：听你说什么，也听你怎么说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四通道信号 + 门控融合，不确定性会主动询问而非断言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1938528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64208"/>
            <a:ext cx="310896" cy="310896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8" name="Text 6"/>
          <p:cNvSpPr/>
          <p:nvPr/>
        </p:nvSpPr>
        <p:spPr>
          <a:xfrm>
            <a:off x="685800" y="166420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69848" y="166420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文本通道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Plutchik 八情绪多标签 + 强度回归；情绪归因抽取（事件 / 对象 / 认知评价）；需求与风险识别。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3072384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输出：情绪标签 + 强度 + 归因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51176" y="1536192"/>
            <a:ext cx="1938528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34056" y="1664208"/>
            <a:ext cx="310896" cy="310896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14" name="Text 12"/>
          <p:cNvSpPr/>
          <p:nvPr/>
        </p:nvSpPr>
        <p:spPr>
          <a:xfrm>
            <a:off x="2734056" y="166420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18104" y="166420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语音通道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34056" y="201168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端侧提取 F0 轨迹、能量、语速、停顿、抖动；emotion2vec / wav2vec2 蒸馏小模型（&lt; 30MB）。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34056" y="3072384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输出：arousal / valence 连续值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99432" y="1536192"/>
            <a:ext cx="1938528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82312" y="1664208"/>
            <a:ext cx="310896" cy="310896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20" name="Text 18"/>
          <p:cNvSpPr/>
          <p:nvPr/>
        </p:nvSpPr>
        <p:spPr>
          <a:xfrm>
            <a:off x="4782312" y="166420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66360" y="166420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视觉通道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82312" y="201168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二次授权、默认关闭。MediaPipe 提取 landmark → 轻量 CNN 输出 AU 特征；仅用于轻趣味互动。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82312" y="3072384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输出：表情 AU（可选降权）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647688" y="1536192"/>
            <a:ext cx="1938528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30568" y="1664208"/>
            <a:ext cx="310896" cy="310896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26" name="Text 24"/>
          <p:cNvSpPr/>
          <p:nvPr/>
        </p:nvSpPr>
        <p:spPr>
          <a:xfrm>
            <a:off x="6830568" y="166420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14616" y="166420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行为通道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30568" y="201168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活跃时段、回复时长、会话频次、功能迁移、打字节奏；与用户自身历史基线做个体内比较。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830568" y="3072384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输出：情绪漂移检测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2920" y="3675888"/>
            <a:ext cx="8138160" cy="877824"/>
          </a:xfrm>
          <a:prstGeom prst="rect">
            <a:avLst/>
          </a:prstGeom>
          <a:solidFill>
            <a:srgbClr val="242A50"/>
          </a:solidFill>
        </p:spPr>
      </p:sp>
      <p:sp>
        <p:nvSpPr>
          <p:cNvPr id="31" name="Text 29"/>
          <p:cNvSpPr/>
          <p:nvPr/>
        </p:nvSpPr>
        <p:spPr>
          <a:xfrm>
            <a:off x="713232" y="3749040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门控多模态融合  Gated Multimodal Fusion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3232" y="40050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DB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α = softmax(W · [h_m ; c_m])　→　z = Σ α_m · h_m　→　VAD 三维状态 + 情绪分布 + 置信度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779008" y="3877056"/>
            <a:ext cx="27889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低质量模态自动降权 · 缺失模态鲁棒 · 置信度低时 AI 主动询问：“你是累了，还是委屈？”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 · EMG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情感记忆图谱 EMG：让 AI 真正“记得你”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四层记忆结构 + 情感匹配检索，解决“聊完就忘”这一核心痛点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四层记忆结构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792224"/>
            <a:ext cx="3840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92224"/>
            <a:ext cx="64008" cy="548640"/>
          </a:xfrm>
          <a:prstGeom prst="rect">
            <a:avLst/>
          </a:prstGeom>
          <a:solidFill>
            <a:srgbClr val="787E96"/>
          </a:solidFill>
        </p:spPr>
      </p:sp>
      <p:sp>
        <p:nvSpPr>
          <p:cNvPr id="9" name="Text 7"/>
          <p:cNvSpPr/>
          <p:nvPr/>
        </p:nvSpPr>
        <p:spPr>
          <a:xfrm>
            <a:off x="676656" y="183794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L1 工作记忆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37560" y="1837944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会话内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76656" y="2057400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当前会话上下文：滑动窗口 + 滚动摘要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2414016"/>
            <a:ext cx="3840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414016"/>
            <a:ext cx="64008" cy="548640"/>
          </a:xfrm>
          <a:prstGeom prst="rect">
            <a:avLst/>
          </a:prstGeom>
          <a:solidFill>
            <a:srgbClr val="3F8C86"/>
          </a:solidFill>
        </p:spPr>
      </p:sp>
      <p:sp>
        <p:nvSpPr>
          <p:cNvPr id="14" name="Text 12"/>
          <p:cNvSpPr/>
          <p:nvPr/>
        </p:nvSpPr>
        <p:spPr>
          <a:xfrm>
            <a:off x="676656" y="245973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L2 情景记忆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4597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长期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267919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具体事件与对话摘要，向量化存储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3035808"/>
            <a:ext cx="3840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035808"/>
            <a:ext cx="64008" cy="548640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19" name="Text 17"/>
          <p:cNvSpPr/>
          <p:nvPr/>
        </p:nvSpPr>
        <p:spPr>
          <a:xfrm>
            <a:off x="676656" y="308152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L3 语义记忆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3081528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长期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76656" y="3300984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稳定画像：价值观、重要他人、禁忌、触发源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3657600"/>
            <a:ext cx="3840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657600"/>
            <a:ext cx="64008" cy="548640"/>
          </a:xfrm>
          <a:prstGeom prst="rect">
            <a:avLst/>
          </a:prstGeom>
          <a:solidFill>
            <a:srgbClr val="D4694F"/>
          </a:solidFill>
        </p:spPr>
      </p:sp>
      <p:sp>
        <p:nvSpPr>
          <p:cNvPr id="24" name="Text 22"/>
          <p:cNvSpPr/>
          <p:nvPr/>
        </p:nvSpPr>
        <p:spPr>
          <a:xfrm>
            <a:off x="676656" y="370332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L4 情感记忆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37033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469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长期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3922776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“什么会让你好起来 / 什么会让你崩”的因果库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17720" y="1481328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检索打分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17720" y="1792224"/>
            <a:ext cx="4023360" cy="1024128"/>
          </a:xfrm>
          <a:prstGeom prst="rect">
            <a:avLst/>
          </a:prstGeom>
          <a:solidFill>
            <a:srgbClr val="242A50"/>
          </a:solidFill>
        </p:spPr>
      </p:sp>
      <p:sp>
        <p:nvSpPr>
          <p:cNvPr id="29" name="Text 27"/>
          <p:cNvSpPr/>
          <p:nvPr/>
        </p:nvSpPr>
        <p:spPr>
          <a:xfrm>
            <a:off x="4800600" y="1847088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DB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score = w₁·sim(q,m)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DB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　　　+ w₂·importance(m)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DB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　　　+ w₃·exp(−λ·Δt)　时间衰减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DB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　　　+ w₄·emotion_match(m)　情绪匹配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17720" y="2907792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三条关键设计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617720" y="3200400"/>
            <a:ext cx="40233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写入需确认：高权重记忆（重要他人、创伤事件）写入前先询问用户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自然遗忘：低重要度记忆随时间衰减，降低存储与隐私风险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反幻觉约束：记忆必须可溯源原文，禁止模型脑补未发生的事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THE 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 秒对比：同一个用户，同一句话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这是心屿与“大模型 + 角色 Prompt”的分界线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3931920" cy="2286000"/>
          </a:xfrm>
          <a:prstGeom prst="rect">
            <a:avLst/>
          </a:prstGeom>
          <a:solidFill>
            <a:srgbClr val="242A50"/>
          </a:solidFill>
          <a:ln w="9525">
            <a:solidFill>
              <a:srgbClr val="3D44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9344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 AI 助手 · 第 30 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938528"/>
            <a:ext cx="3474720" cy="18288"/>
          </a:xfrm>
          <a:prstGeom prst="rect">
            <a:avLst/>
          </a:prstGeom>
          <a:solidFill>
            <a:srgbClr val="3D4468"/>
          </a:solidFill>
        </p:spPr>
      </p:sp>
      <p:sp>
        <p:nvSpPr>
          <p:cNvPr id="9" name="Text 7"/>
          <p:cNvSpPr/>
          <p:nvPr/>
        </p:nvSpPr>
        <p:spPr>
          <a:xfrm>
            <a:off x="731520" y="2029968"/>
            <a:ext cx="347472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用户：今天又被当众否定了……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CE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AI：我能理解你的感受，这确实不容易。要不要试着从积极的角度看待这件事？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481328"/>
            <a:ext cx="3931920" cy="2286000"/>
          </a:xfrm>
          <a:prstGeom prst="rect">
            <a:avLst/>
          </a:prstGeom>
          <a:solidFill>
            <a:srgbClr val="2E3463"/>
          </a:solidFill>
          <a:ln w="19050">
            <a:solidFill>
              <a:srgbClr val="DE9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609344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心屿 MindIsle · 第 30 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938528"/>
            <a:ext cx="3474720" cy="18288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13" name="Text 11"/>
          <p:cNvSpPr/>
          <p:nvPr/>
        </p:nvSpPr>
        <p:spPr>
          <a:xfrm>
            <a:off x="4937760" y="2029968"/>
            <a:ext cx="347472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用户：今天又被当众否定了……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屿：又是当众被否定。上次你说，最难受的不是方案被否，是“当众”二字——这次想先骂两句，还是我陪你理一下？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950208"/>
            <a:ext cx="8138160" cy="694944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15" name="Text 13"/>
          <p:cNvSpPr/>
          <p:nvPr/>
        </p:nvSpPr>
        <p:spPr>
          <a:xfrm>
            <a:off x="731520" y="3950208"/>
            <a:ext cx="76809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记忆被调用，而不是被存储 —— 这才是“长期陪伴关系”与“套壳 Prompt”的本质区别。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4700016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3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心屿 MindIsle · iCAN 大学生创新创业大赛 AI 应用创新挑战赛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人格化共情生成：不崩人设，不说套话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Persona Anchor 人格锚定 + 共情策略矩阵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Persona Anchor · 三步闭环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38404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029968"/>
            <a:ext cx="310896" cy="310896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9" name="Text 7"/>
          <p:cNvSpPr/>
          <p:nvPr/>
        </p:nvSpPr>
        <p:spPr>
          <a:xfrm>
            <a:off x="658368" y="202996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1883664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生成前注入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8992" y="213969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人设卡 + 相关记忆 + 当前情感状态 + 用户偏好，统一注入上下文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2670048"/>
            <a:ext cx="38404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2889504"/>
            <a:ext cx="310896" cy="310896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14" name="Text 12"/>
          <p:cNvSpPr/>
          <p:nvPr/>
        </p:nvSpPr>
        <p:spPr>
          <a:xfrm>
            <a:off x="658368" y="288950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78992" y="274320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生成后校验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8992" y="299923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Critic 对一致性 / 共情质量 / 安全性三维打分，任一项不达标即重生成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3529584"/>
            <a:ext cx="38404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749040"/>
            <a:ext cx="310896" cy="310896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19" name="Text 17"/>
          <p:cNvSpPr/>
          <p:nvPr/>
        </p:nvSpPr>
        <p:spPr>
          <a:xfrm>
            <a:off x="658368" y="374904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8992" y="3602736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长期一致性测试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78992" y="385876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定期以“记忆问答”检验陪伴体是否仍记得关键事实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442569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469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对“我理解你的感受”“抱抱你”等廉价共情设惩罚项，要求回应必须包含来自记忆的具体细节。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17720" y="1481328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共情策略矩阵（节选）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4617720" y="1810512"/>
          <a:ext cx="4023360" cy="2688336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用户状态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回应策略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悲伤 · 讨厌说教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倾听陪伴：不急着给建议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悲伤 · 寻求解决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赋能支持：先共情一句再问要不要办法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焦虑 · 高唤醒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降唤醒：呼吸引导 + 大问题拆小步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愤怒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同频 validate：不劝人大度，先承认合理性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喜悦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放大：主动庆祝，鼓励分享给真人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危机 L2 / L3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守护模式：停止拟人化，转介专业渠道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多智能体协同：把“有人味”与“绝对安全”解耦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陪伴可以拟人，安全必须可靠 —— 二者交给不同的智能体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1938528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36192"/>
            <a:ext cx="1938528" cy="73152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8" name="Text 6"/>
          <p:cNvSpPr/>
          <p:nvPr/>
        </p:nvSpPr>
        <p:spPr>
          <a:xfrm>
            <a:off x="685800" y="1700784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Companion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93852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陪伴体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1664208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主演。负责对话与陪伴，受 Persona Anchor 约束，不可越界。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51176" y="1536192"/>
            <a:ext cx="1938528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51176" y="1536192"/>
            <a:ext cx="1938528" cy="73152"/>
          </a:xfrm>
          <a:prstGeom prst="rect">
            <a:avLst/>
          </a:prstGeom>
          <a:solidFill>
            <a:srgbClr val="3F8C86"/>
          </a:solidFill>
        </p:spPr>
      </p:sp>
      <p:sp>
        <p:nvSpPr>
          <p:cNvPr id="13" name="Text 11"/>
          <p:cNvSpPr/>
          <p:nvPr/>
        </p:nvSpPr>
        <p:spPr>
          <a:xfrm>
            <a:off x="2734056" y="1700784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 Steward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34056" y="193852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记忆官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34056" y="2286000"/>
            <a:ext cx="1664208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记忆的读写、压缩、去重、衰减与冲突消解；写入前确认，禁止臆造。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99432" y="1536192"/>
            <a:ext cx="1938528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99432" y="1536192"/>
            <a:ext cx="1938528" cy="73152"/>
          </a:xfrm>
          <a:prstGeom prst="rect">
            <a:avLst/>
          </a:prstGeom>
          <a:solidFill>
            <a:srgbClr val="6D6BA8"/>
          </a:solidFill>
        </p:spPr>
      </p:sp>
      <p:sp>
        <p:nvSpPr>
          <p:cNvPr id="18" name="Text 16"/>
          <p:cNvSpPr/>
          <p:nvPr/>
        </p:nvSpPr>
        <p:spPr>
          <a:xfrm>
            <a:off x="4782312" y="1700784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6B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Empathy Critic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82312" y="193852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共情评审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82312" y="2286000"/>
            <a:ext cx="1664208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生成后打分，一致性 / 共情质量 / 安全性任一项不达标即一票打回。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647688" y="1536192"/>
            <a:ext cx="1938528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47688" y="1536192"/>
            <a:ext cx="1938528" cy="73152"/>
          </a:xfrm>
          <a:prstGeom prst="rect">
            <a:avLst/>
          </a:prstGeom>
          <a:solidFill>
            <a:srgbClr val="D4694F"/>
          </a:solidFill>
        </p:spPr>
      </p:sp>
      <p:sp>
        <p:nvSpPr>
          <p:cNvPr id="23" name="Text 21"/>
          <p:cNvSpPr/>
          <p:nvPr/>
        </p:nvSpPr>
        <p:spPr>
          <a:xfrm>
            <a:off x="6830568" y="1700784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69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Guardian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30568" y="193852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守夜人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30568" y="2286000"/>
            <a:ext cx="1664208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并行硬旁路，全程风险监测；独立模型，不可被提示词绕过，一票否决。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" y="3822192"/>
            <a:ext cx="8138160" cy="786384"/>
          </a:xfrm>
          <a:prstGeom prst="rect">
            <a:avLst/>
          </a:prstGeom>
          <a:solidFill>
            <a:srgbClr val="242A50"/>
          </a:solidFill>
        </p:spPr>
      </p:sp>
      <p:sp>
        <p:nvSpPr>
          <p:cNvPr id="27" name="Text 25"/>
          <p:cNvSpPr/>
          <p:nvPr/>
        </p:nvSpPr>
        <p:spPr>
          <a:xfrm>
            <a:off x="731520" y="387705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为什么不是一个大模型？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31520" y="4133088"/>
            <a:ext cx="42062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E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同一个模型在“拟人化共情”与“安全边界”之间必然摇摆。心屿将二者解耦：Companion 负责温度，Guardian 负责底线，Orchestrator 负责降级与熔断。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20640" y="3950208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Guardian = 独立模型 · 并行旁路 · 不可绕过 · 一票否决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主动陪伴引擎 PACE：真正在乎你的人，会主动找你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它不是定时推送，而是一个带约束的决策问题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8288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16152" y="1700784"/>
            <a:ext cx="384048" cy="384048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8" name="Text 6"/>
          <p:cNvSpPr/>
          <p:nvPr/>
        </p:nvSpPr>
        <p:spPr>
          <a:xfrm>
            <a:off x="1216152" y="17007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" y="2048256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状态预测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" y="2322576"/>
            <a:ext cx="15361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基于情感轨迹与周期模式预测未来情绪 ŝ(t+Δ)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50008" y="2048256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06040" y="1572768"/>
            <a:ext cx="18288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9272" y="1700784"/>
            <a:ext cx="384048" cy="384048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14" name="Text 12"/>
          <p:cNvSpPr/>
          <p:nvPr/>
        </p:nvSpPr>
        <p:spPr>
          <a:xfrm>
            <a:off x="3319272" y="17007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52344" y="2048256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时机决策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52344" y="2322576"/>
            <a:ext cx="15361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选择历史响应率最高的时段，而非用户最难过的时刻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53128" y="2048256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1572768"/>
            <a:ext cx="18288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22392" y="1700784"/>
            <a:ext cx="384048" cy="384048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20" name="Text 18"/>
          <p:cNvSpPr/>
          <p:nvPr/>
        </p:nvSpPr>
        <p:spPr>
          <a:xfrm>
            <a:off x="5422392" y="17007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55464" y="2048256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形式选择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55464" y="2322576"/>
            <a:ext cx="15361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文字 / 语音 / 卡片 / 一起做件事，Bandit 在线学习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56248" y="2048256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12280" y="1572768"/>
            <a:ext cx="18288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25512" y="1700784"/>
            <a:ext cx="384048" cy="384048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26" name="Text 24"/>
          <p:cNvSpPr/>
          <p:nvPr/>
        </p:nvSpPr>
        <p:spPr>
          <a:xfrm>
            <a:off x="7525512" y="17007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58584" y="2048256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触达与反馈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58584" y="2322576"/>
            <a:ext cx="15361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正反馈强化，负反馈立即冷却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31089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克制，是主动陪伴最难的部分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3456432"/>
            <a:ext cx="193852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456432"/>
            <a:ext cx="54864" cy="786384"/>
          </a:xfrm>
          <a:prstGeom prst="rect">
            <a:avLst/>
          </a:prstGeom>
          <a:solidFill>
            <a:srgbClr val="D4694F"/>
          </a:solidFill>
        </p:spPr>
      </p:sp>
      <p:sp>
        <p:nvSpPr>
          <p:cNvPr id="32" name="Text 30"/>
          <p:cNvSpPr/>
          <p:nvPr/>
        </p:nvSpPr>
        <p:spPr>
          <a:xfrm>
            <a:off x="685800" y="3529584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频率上限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5800" y="3785616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每日主动触达次数硬性封顶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51176" y="3456432"/>
            <a:ext cx="193852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51176" y="3456432"/>
            <a:ext cx="54864" cy="786384"/>
          </a:xfrm>
          <a:prstGeom prst="rect">
            <a:avLst/>
          </a:prstGeom>
          <a:solidFill>
            <a:srgbClr val="D4694F"/>
          </a:solidFill>
        </p:spPr>
      </p:sp>
      <p:sp>
        <p:nvSpPr>
          <p:cNvPr id="36" name="Text 34"/>
          <p:cNvSpPr/>
          <p:nvPr/>
        </p:nvSpPr>
        <p:spPr>
          <a:xfrm>
            <a:off x="2734056" y="3529584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免打扰时段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734056" y="3785616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尊重睡眠与工作时段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99432" y="3456432"/>
            <a:ext cx="193852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99432" y="3456432"/>
            <a:ext cx="54864" cy="786384"/>
          </a:xfrm>
          <a:prstGeom prst="rect">
            <a:avLst/>
          </a:prstGeom>
          <a:solidFill>
            <a:srgbClr val="D4694F"/>
          </a:solidFill>
        </p:spPr>
      </p:sp>
      <p:sp>
        <p:nvSpPr>
          <p:cNvPr id="40" name="Text 38"/>
          <p:cNvSpPr/>
          <p:nvPr/>
        </p:nvSpPr>
        <p:spPr>
          <a:xfrm>
            <a:off x="4782312" y="3529584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负反馈敏感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82312" y="3785616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一次“别烦我”立即进入冷却并致歉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647688" y="3456432"/>
            <a:ext cx="193852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47688" y="3456432"/>
            <a:ext cx="54864" cy="786384"/>
          </a:xfrm>
          <a:prstGeom prst="rect">
            <a:avLst/>
          </a:prstGeom>
          <a:solidFill>
            <a:srgbClr val="D4694F"/>
          </a:solidFill>
        </p:spPr>
      </p:sp>
      <p:sp>
        <p:nvSpPr>
          <p:cNvPr id="44" name="Text 42"/>
          <p:cNvSpPr/>
          <p:nvPr/>
        </p:nvSpPr>
        <p:spPr>
          <a:xfrm>
            <a:off x="6830568" y="3529584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用户可关闭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30568" y="3785616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主动关怀总开关，一键即停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产品功能地图：12 个模块，MVP 只做 5 个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大赛期聚焦 P0，其余按路线图分期交付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02920" y="1481328"/>
          <a:ext cx="8138160" cy="3090672"/>
        </p:xfrm>
        <a:graphic>
          <a:graphicData uri="http://schemas.openxmlformats.org/drawingml/2006/table">
            <a:tbl>
              <a:tblPr/>
              <a:tblGrid>
                <a:gridCol w="502920"/>
                <a:gridCol w="1691640"/>
                <a:gridCol w="5212080"/>
                <a:gridCol w="731520"/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#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模块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核心能力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优先级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陪伴体工坊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性格维度滑块、关系定位、声音与形象、边界设定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深度对话陪伴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多模态输入、长期记忆、情感识别、共情回应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M3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情绪仪表盘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实时情绪状态、情绪曲线、归因解释、可纠正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M4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守夜人安全中心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四级风险分级、守护模式、热线转介、事后回访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M5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记忆账本 / 隐私中心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记忆可见可删可导出、无痕模式、数据贡献开关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M6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主动关怀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早安晚安、事后跟进、纪念日与仪式感提醒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M7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情绪调节工具箱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呼吸训练、正念、CBT 思维记录、情绪写作引导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M8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情感记忆时间轴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情绪轨迹回顾、高光时刻、年度报告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M9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共鸣广场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匿名情绪漂流瓶、情绪向量共鸣匹配、社区热力图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双人空间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异地亲密关系的共同记忆与关系辅助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长辈模式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语音优先、方言、大字号、家庭情绪周报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 端管理后台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高校 / 企业 / 机构的脱敏聚合看板（严格授权）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SAFETY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数据隐私与伦理安全：隐私保护不是成本，是竞争力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数据分级最小化 · 用户主权产品化 · 危机四级闭环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29260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36192"/>
            <a:ext cx="2926080" cy="73152"/>
          </a:xfrm>
          <a:prstGeom prst="rect">
            <a:avLst/>
          </a:prstGeom>
          <a:solidFill>
            <a:srgbClr val="3F8C86"/>
          </a:solidFill>
        </p:spPr>
      </p:sp>
      <p:sp>
        <p:nvSpPr>
          <p:cNvPr id="8" name="Text 6"/>
          <p:cNvSpPr/>
          <p:nvPr/>
        </p:nvSpPr>
        <p:spPr>
          <a:xfrm>
            <a:off x="704088" y="1700784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数据分级与最小化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4088" y="2066544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L4 极度敏感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91640" y="2066544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自伤表达、创伤、亲密关系细节：端侧优先，默认不训练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04088" y="2542032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L3 敏感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691640" y="2542032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聊天文本、情感特征、记忆条目：端到端加密，不用于广告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4088" y="3017520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L2 一般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91640" y="3017520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使用行为与活跃时段：匿名化聚合分析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04088" y="3493008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L1 公开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91640" y="3493008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设备类型、语言、版本：常规处理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04088" y="3968496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原则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691640" y="3968496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能用特征解决的问题，绝不采集原文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566160" y="1536192"/>
            <a:ext cx="29260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66160" y="1536192"/>
            <a:ext cx="2926080" cy="73152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21" name="Text 19"/>
          <p:cNvSpPr/>
          <p:nvPr/>
        </p:nvSpPr>
        <p:spPr>
          <a:xfrm>
            <a:off x="3767328" y="1700784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用户主权 · 记忆账本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67328" y="2066544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知情权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0" y="2066544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分层可视化隐私说明 + 数据流图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767328" y="2542032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访问权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2542032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每一条被记住的内容都可查看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767328" y="3017520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更正权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0" y="3017520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编辑记忆、纠正情绪判断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767328" y="3493008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删除权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0" y="3493008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单条 / 按人 / 按事 / 全量注销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767328" y="3968496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可携带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3968496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全量导出 JSON + 可读 Markdown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675120" y="1536192"/>
            <a:ext cx="1965960" cy="2926080"/>
          </a:xfrm>
          <a:prstGeom prst="rect">
            <a:avLst/>
          </a:prstGeom>
          <a:solidFill>
            <a:srgbClr val="242A50"/>
          </a:solidFill>
        </p:spPr>
      </p:sp>
      <p:sp>
        <p:nvSpPr>
          <p:cNvPr id="33" name="Text 31"/>
          <p:cNvSpPr/>
          <p:nvPr/>
        </p:nvSpPr>
        <p:spPr>
          <a:xfrm>
            <a:off x="6876288" y="1682496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危机四级处置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76288" y="2084832"/>
            <a:ext cx="310896" cy="310896"/>
          </a:xfrm>
          <a:prstGeom prst="ellipse">
            <a:avLst/>
          </a:prstGeom>
          <a:solidFill>
            <a:srgbClr val="5C6382"/>
          </a:solidFill>
        </p:spPr>
      </p:sp>
      <p:sp>
        <p:nvSpPr>
          <p:cNvPr id="35" name="Text 33"/>
          <p:cNvSpPr/>
          <p:nvPr/>
        </p:nvSpPr>
        <p:spPr>
          <a:xfrm>
            <a:off x="6876288" y="20848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260336" y="208483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日常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260336" y="2295144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正常陪伴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76288" y="2651760"/>
            <a:ext cx="310896" cy="310896"/>
          </a:xfrm>
          <a:prstGeom prst="ellipse">
            <a:avLst/>
          </a:prstGeom>
          <a:solidFill>
            <a:srgbClr val="4A7C8C"/>
          </a:solidFill>
        </p:spPr>
      </p:sp>
      <p:sp>
        <p:nvSpPr>
          <p:cNvPr id="39" name="Text 37"/>
          <p:cNvSpPr/>
          <p:nvPr/>
        </p:nvSpPr>
        <p:spPr>
          <a:xfrm>
            <a:off x="6876288" y="265176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260336" y="2651760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低谷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260336" y="2862072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关怀队列 + 调节工具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876288" y="3218688"/>
            <a:ext cx="310896" cy="310896"/>
          </a:xfrm>
          <a:prstGeom prst="ellipse">
            <a:avLst/>
          </a:prstGeom>
          <a:solidFill>
            <a:srgbClr val="C08A3E"/>
          </a:solidFill>
        </p:spPr>
      </p:sp>
      <p:sp>
        <p:nvSpPr>
          <p:cNvPr id="43" name="Text 41"/>
          <p:cNvSpPr/>
          <p:nvPr/>
        </p:nvSpPr>
        <p:spPr>
          <a:xfrm>
            <a:off x="6876288" y="321868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60336" y="3218688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持续风险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260336" y="3429000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建议专业帮助 + 转介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876288" y="3785616"/>
            <a:ext cx="310896" cy="310896"/>
          </a:xfrm>
          <a:prstGeom prst="ellipse">
            <a:avLst/>
          </a:prstGeom>
          <a:solidFill>
            <a:srgbClr val="D4694F"/>
          </a:solidFill>
        </p:spPr>
      </p:sp>
      <p:sp>
        <p:nvSpPr>
          <p:cNvPr id="47" name="Text 45"/>
          <p:cNvSpPr/>
          <p:nvPr/>
        </p:nvSpPr>
        <p:spPr>
          <a:xfrm>
            <a:off x="6876288" y="37856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260336" y="3785616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危机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260336" y="399592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守护模式 + 热线置顶 + 回访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76288" y="4133088"/>
            <a:ext cx="15636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宁可误报（多问一句），不可漏报（装作没看见）。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INNOVATION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六大创新点与差异化优势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不是微创新，而是“记忆—感知—决策—安全”的范式闭环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12801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78408" y="1591056"/>
            <a:ext cx="310896" cy="310896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8" name="Text 6"/>
          <p:cNvSpPr/>
          <p:nvPr/>
        </p:nvSpPr>
        <p:spPr>
          <a:xfrm>
            <a:off x="978408" y="15910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956816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情感记忆图谱 EMG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340864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四层记忆 + 时间衰减检索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74520" y="1481328"/>
            <a:ext cx="12801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50008" y="1591056"/>
            <a:ext cx="310896" cy="310896"/>
          </a:xfrm>
          <a:prstGeom prst="ellipse">
            <a:avLst/>
          </a:prstGeom>
          <a:solidFill>
            <a:srgbClr val="D4694F"/>
          </a:solidFill>
        </p:spPr>
      </p:sp>
      <p:sp>
        <p:nvSpPr>
          <p:cNvPr id="13" name="Text 11"/>
          <p:cNvSpPr/>
          <p:nvPr/>
        </p:nvSpPr>
        <p:spPr>
          <a:xfrm>
            <a:off x="2350008" y="15910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65960" y="1956816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门控多模态感知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65960" y="2340864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不止听你说什么，还听你怎么说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46120" y="1481328"/>
            <a:ext cx="12801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21608" y="1591056"/>
            <a:ext cx="310896" cy="310896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18" name="Text 16"/>
          <p:cNvSpPr/>
          <p:nvPr/>
        </p:nvSpPr>
        <p:spPr>
          <a:xfrm>
            <a:off x="3721608" y="15910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1956816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PACE 主动陪伴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37560" y="2340864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从“你找我”到“我找你”，但懂克制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617720" y="1481328"/>
            <a:ext cx="12801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93208" y="1591056"/>
            <a:ext cx="310896" cy="310896"/>
          </a:xfrm>
          <a:prstGeom prst="ellipse">
            <a:avLst/>
          </a:prstGeom>
          <a:solidFill>
            <a:srgbClr val="D4694F"/>
          </a:solidFill>
        </p:spPr>
      </p:sp>
      <p:sp>
        <p:nvSpPr>
          <p:cNvPr id="23" name="Text 21"/>
          <p:cNvSpPr/>
          <p:nvPr/>
        </p:nvSpPr>
        <p:spPr>
          <a:xfrm>
            <a:off x="5093208" y="15910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1956816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Persona Anchor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9160" y="2340864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解决人设崩塌与廉价共情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989320" y="1481328"/>
            <a:ext cx="12801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64808" y="1591056"/>
            <a:ext cx="310896" cy="310896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28" name="Text 26"/>
          <p:cNvSpPr/>
          <p:nvPr/>
        </p:nvSpPr>
        <p:spPr>
          <a:xfrm>
            <a:off x="6464808" y="15910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80760" y="1956816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Guardian 硬旁路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80760" y="2340864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陪伴要人味，安全要绝对可靠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360920" y="1481328"/>
            <a:ext cx="12801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836408" y="1591056"/>
            <a:ext cx="310896" cy="310896"/>
          </a:xfrm>
          <a:prstGeom prst="ellipse">
            <a:avLst/>
          </a:prstGeom>
          <a:solidFill>
            <a:srgbClr val="D4694F"/>
          </a:solidFill>
        </p:spPr>
      </p:sp>
      <p:sp>
        <p:nvSpPr>
          <p:cNvPr id="33" name="Text 31"/>
          <p:cNvSpPr/>
          <p:nvPr/>
        </p:nvSpPr>
        <p:spPr>
          <a:xfrm>
            <a:off x="7836408" y="15910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52360" y="1956816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隐私即功能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452360" y="2340864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数据主权做成看得见的产品</a:t>
            </a:r>
            <a:endParaRPr lang="en-US" sz="7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/>
        </p:nvGraphicFramePr>
        <p:xfrm>
          <a:off x="502920" y="2852928"/>
          <a:ext cx="8138160" cy="1645920"/>
        </p:xfrm>
        <a:graphic>
          <a:graphicData uri="http://schemas.openxmlformats.org/drawingml/2006/table">
            <a:tbl>
              <a:tblPr/>
              <a:tblGrid>
                <a:gridCol w="1371600"/>
                <a:gridCol w="1298448"/>
                <a:gridCol w="1298448"/>
                <a:gridCol w="1298448"/>
                <a:gridCol w="2871216"/>
              </a:tblGrid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对比维度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通用大模型助手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角色扮演 App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传统心理 App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心屿 MindIsle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4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长期记忆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弱（会话级）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弱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5E1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强 · EMG 四层记忆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多模态情感感知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部分（图文）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5E1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四通道门控融合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主动陪伴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定时推送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提醒打卡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5E1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PACE 决策式关怀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人格一致性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中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易崩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5E1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Anchor + Critic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危机识别与转介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模板化免责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基本缺失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有但被动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5E1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Guardian 闭环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隐私主权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条款式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条款式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较好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5E1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记忆账本 + 一键遗忘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网络效应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弱社区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5E1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共鸣广场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价值导向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时长导向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沉浸导向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工具导向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5E1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情绪恢复度 + 现实连接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</a:tbl>
          </a:graphicData>
        </a:graphic>
      </p:graphicFrame>
      <p:sp>
        <p:nvSpPr>
          <p:cNvPr id="37" name="Text 34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技术实现路径：四期推进，大赛期只打关键一仗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全部基于成熟开源模型做微调与编排，不碰不可控的基础模型训练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157984"/>
            <a:ext cx="7498080" cy="41148"/>
          </a:xfrm>
          <a:prstGeom prst="rect">
            <a:avLst/>
          </a:prstGeom>
          <a:solidFill>
            <a:srgbClr val="E3DACE"/>
          </a:solidFill>
        </p:spPr>
      </p:sp>
      <p:sp>
        <p:nvSpPr>
          <p:cNvPr id="7" name="Shape 5"/>
          <p:cNvSpPr/>
          <p:nvPr/>
        </p:nvSpPr>
        <p:spPr>
          <a:xfrm>
            <a:off x="1261872" y="2011680"/>
            <a:ext cx="329184" cy="329184"/>
          </a:xfrm>
          <a:prstGeom prst="ellipse">
            <a:avLst/>
          </a:prstGeom>
          <a:solidFill>
            <a:srgbClr val="787E96"/>
          </a:solidFill>
        </p:spPr>
      </p:sp>
      <p:sp>
        <p:nvSpPr>
          <p:cNvPr id="8" name="Text 6"/>
          <p:cNvSpPr/>
          <p:nvPr/>
        </p:nvSpPr>
        <p:spPr>
          <a:xfrm>
            <a:off x="1261872" y="20116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P0 验证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3957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1–2 月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651760"/>
            <a:ext cx="182880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" y="2743200"/>
            <a:ext cx="1572768" cy="8961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文本情感 MVP + 单陪伴体 Demo + 50 人内测访谈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64992" y="2011680"/>
            <a:ext cx="329184" cy="329184"/>
          </a:xfrm>
          <a:prstGeom prst="ellipse">
            <a:avLst/>
          </a:prstGeom>
          <a:solidFill>
            <a:srgbClr val="3F8C86"/>
          </a:solidFill>
        </p:spPr>
      </p:sp>
      <p:sp>
        <p:nvSpPr>
          <p:cNvPr id="14" name="Text 12"/>
          <p:cNvSpPr/>
          <p:nvPr/>
        </p:nvSpPr>
        <p:spPr>
          <a:xfrm>
            <a:off x="3364992" y="20116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162763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P1 MVP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23957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3–5 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06040" y="2651760"/>
            <a:ext cx="182880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34056" y="2743200"/>
            <a:ext cx="1572768" cy="8961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多模态、EMG 记忆、情绪仪表盘、Guardian L0–L2、隐私中心；种子用户 2,000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68112" y="2011680"/>
            <a:ext cx="329184" cy="329184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20" name="Text 18"/>
          <p:cNvSpPr/>
          <p:nvPr/>
        </p:nvSpPr>
        <p:spPr>
          <a:xfrm>
            <a:off x="5468112" y="20116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162763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P2 成长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23957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6–9 月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2651760"/>
            <a:ext cx="182880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37176" y="2743200"/>
            <a:ext cx="1572768" cy="8961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PACE 主动关怀、工具箱、记忆时间轴、共鸣广场；用户 10 万 + 高校试点 3–5 所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571232" y="2011680"/>
            <a:ext cx="329184" cy="329184"/>
          </a:xfrm>
          <a:prstGeom prst="ellipse">
            <a:avLst/>
          </a:prstGeom>
          <a:solidFill>
            <a:srgbClr val="D4694F"/>
          </a:solidFill>
        </p:spPr>
      </p:sp>
      <p:sp>
        <p:nvSpPr>
          <p:cNvPr id="26" name="Text 24"/>
          <p:cNvSpPr/>
          <p:nvPr/>
        </p:nvSpPr>
        <p:spPr>
          <a:xfrm>
            <a:off x="7571232" y="20116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12280" y="162763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P3–P4 商业化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12280" y="23957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69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10–24 月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12280" y="2651760"/>
            <a:ext cx="182880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40296" y="2743200"/>
            <a:ext cx="1572768" cy="8961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会员体系、情感增值、B 端 SaaS、长辈模式与双人空间；用户 200 万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920" y="3877056"/>
            <a:ext cx="8138160" cy="749808"/>
          </a:xfrm>
          <a:prstGeom prst="rect">
            <a:avLst/>
          </a:prstGeom>
          <a:solidFill>
            <a:srgbClr val="242A50"/>
          </a:solidFill>
        </p:spPr>
      </p:sp>
      <p:sp>
        <p:nvSpPr>
          <p:cNvPr id="32" name="Text 30"/>
          <p:cNvSpPr/>
          <p:nvPr/>
        </p:nvSpPr>
        <p:spPr>
          <a:xfrm>
            <a:off x="731520" y="393192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大赛期 Demo 聚焦三件事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31520" y="4187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CE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记忆实验：第 1 天埋信息，第 30 天验证调用　② 多模态：疲惫语调说“我没事”被识别　③ 守夜人：危机表达触发守护模式（安全演示）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BUSINESS &amp;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商业化前景与社会价值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三条收入曲线，一个不以“时长”为成功标准的北极星指标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40233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36192"/>
            <a:ext cx="64008" cy="786384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8" name="Text 6"/>
          <p:cNvSpPr/>
          <p:nvPr/>
        </p:nvSpPr>
        <p:spPr>
          <a:xfrm>
            <a:off x="694944" y="159105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 端订阅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94944" y="18288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免费 + 会员 ¥28/月、¥228/年 + 音色形象增值 ¥6–30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94944" y="2048256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长记忆、多模态、多陪伴体、高级音色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20" y="2414016"/>
            <a:ext cx="40233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414016"/>
            <a:ext cx="64008" cy="786384"/>
          </a:xfrm>
          <a:prstGeom prst="rect">
            <a:avLst/>
          </a:prstGeom>
          <a:solidFill>
            <a:srgbClr val="3F8C86"/>
          </a:solidFill>
        </p:spPr>
      </p:sp>
      <p:sp>
        <p:nvSpPr>
          <p:cNvPr id="13" name="Text 11"/>
          <p:cNvSpPr/>
          <p:nvPr/>
        </p:nvSpPr>
        <p:spPr>
          <a:xfrm>
            <a:off x="694944" y="2468880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 端 SaaS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94944" y="2706624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高校 ¥3–8 万/校/年；企业 EAP ¥30–80 人/年；养老按床位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94944" y="292608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私有化部署，数据不出校 / 不出企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3291840"/>
            <a:ext cx="40233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291840"/>
            <a:ext cx="64008" cy="786384"/>
          </a:xfrm>
          <a:prstGeom prst="rect">
            <a:avLst/>
          </a:prstGeom>
          <a:solidFill>
            <a:srgbClr val="D4694F"/>
          </a:solidFill>
        </p:spPr>
      </p:sp>
      <p:sp>
        <p:nvSpPr>
          <p:cNvPr id="18" name="Text 16"/>
          <p:cNvSpPr/>
          <p:nvPr/>
        </p:nvSpPr>
        <p:spPr>
          <a:xfrm>
            <a:off x="694944" y="3346704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生态与数据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94944" y="35844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陪伴体创作生态 UGC + 脱敏聚合情绪趋势（严格伦理审查）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94944" y="3803904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开放创作者经济与研究合作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00600" y="148132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社会价值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1810512"/>
            <a:ext cx="1901952" cy="841248"/>
          </a:xfrm>
          <a:prstGeom prst="rect">
            <a:avLst/>
          </a:prstGeom>
          <a:solidFill>
            <a:srgbClr val="242A50"/>
          </a:solidFill>
        </p:spPr>
      </p:sp>
      <p:sp>
        <p:nvSpPr>
          <p:cNvPr id="23" name="Text 21"/>
          <p:cNvSpPr/>
          <p:nvPr/>
        </p:nvSpPr>
        <p:spPr>
          <a:xfrm>
            <a:off x="4965192" y="1883664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 元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965192" y="2231136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9CE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起手门槛，7×24 可及的第一站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793992" y="1810512"/>
            <a:ext cx="1901952" cy="841248"/>
          </a:xfrm>
          <a:prstGeom prst="rect">
            <a:avLst/>
          </a:prstGeom>
          <a:solidFill>
            <a:srgbClr val="242A50"/>
          </a:solidFill>
        </p:spPr>
      </p:sp>
      <p:sp>
        <p:nvSpPr>
          <p:cNvPr id="26" name="Text 24"/>
          <p:cNvSpPr/>
          <p:nvPr/>
        </p:nvSpPr>
        <p:spPr>
          <a:xfrm>
            <a:off x="6958584" y="1883664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级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958584" y="2231136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9CE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风险分级处置 + 专业转介闭环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00600" y="2743200"/>
            <a:ext cx="1901952" cy="841248"/>
          </a:xfrm>
          <a:prstGeom prst="rect">
            <a:avLst/>
          </a:prstGeom>
          <a:solidFill>
            <a:srgbClr val="242A50"/>
          </a:solidFill>
        </p:spPr>
      </p:sp>
      <p:sp>
        <p:nvSpPr>
          <p:cNvPr id="29" name="Text 27"/>
          <p:cNvSpPr/>
          <p:nvPr/>
        </p:nvSpPr>
        <p:spPr>
          <a:xfrm>
            <a:off x="4965192" y="2816352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100%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4965192" y="3163824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9CE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记忆可查、可改、可删、可导出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793992" y="2743200"/>
            <a:ext cx="1901952" cy="841248"/>
          </a:xfrm>
          <a:prstGeom prst="rect">
            <a:avLst/>
          </a:prstGeom>
          <a:solidFill>
            <a:srgbClr val="242A50"/>
          </a:solidFill>
        </p:spPr>
      </p:sp>
      <p:sp>
        <p:nvSpPr>
          <p:cNvPr id="32" name="Text 30"/>
          <p:cNvSpPr/>
          <p:nvPr/>
        </p:nvSpPr>
        <p:spPr>
          <a:xfrm>
            <a:off x="6958584" y="2816352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下沉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6958584" y="3163824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9CE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补位咨询师稀缺地区的心理服务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00600" y="3730752"/>
            <a:ext cx="3840480" cy="841248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35" name="Text 33"/>
          <p:cNvSpPr/>
          <p:nvPr/>
        </p:nvSpPr>
        <p:spPr>
          <a:xfrm>
            <a:off x="4983480" y="3730752"/>
            <a:ext cx="352044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北极星指标 = 情绪恢复度 × 现实关系连接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不是“用户使用时长”。我们主动放弃所有带来时长却伤害用户的设计。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TEAM &amp; DEFENSE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团队配置、关键指标与答辩要点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跨学科配置 + 可量化指标 + 可核查的合规底线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26060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36192"/>
            <a:ext cx="2606040" cy="73152"/>
          </a:xfrm>
          <a:prstGeom prst="rect">
            <a:avLst/>
          </a:prstGeom>
          <a:solidFill>
            <a:srgbClr val="3F8C86"/>
          </a:solidFill>
        </p:spPr>
      </p:sp>
      <p:sp>
        <p:nvSpPr>
          <p:cNvPr id="8" name="Text 6"/>
          <p:cNvSpPr/>
          <p:nvPr/>
        </p:nvSpPr>
        <p:spPr>
          <a:xfrm>
            <a:off x="713232" y="170078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团队配置（8 人 + 顾问）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13232" y="206654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 / 项目负责人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87168" y="206654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" y="2340864"/>
            <a:ext cx="2231136" cy="9144"/>
          </a:xfrm>
          <a:prstGeom prst="rect">
            <a:avLst/>
          </a:prstGeom>
          <a:solidFill>
            <a:srgbClr val="E3DACE"/>
          </a:solidFill>
        </p:spPr>
      </p:sp>
      <p:sp>
        <p:nvSpPr>
          <p:cNvPr id="12" name="Text 10"/>
          <p:cNvSpPr/>
          <p:nvPr/>
        </p:nvSpPr>
        <p:spPr>
          <a:xfrm>
            <a:off x="713232" y="23957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NLP 算法（情感与记忆）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87168" y="239572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" y="2670048"/>
            <a:ext cx="2231136" cy="9144"/>
          </a:xfrm>
          <a:prstGeom prst="rect">
            <a:avLst/>
          </a:prstGeom>
          <a:solidFill>
            <a:srgbClr val="E3DACE"/>
          </a:solidFill>
        </p:spPr>
      </p:sp>
      <p:sp>
        <p:nvSpPr>
          <p:cNvPr id="15" name="Text 13"/>
          <p:cNvSpPr/>
          <p:nvPr/>
        </p:nvSpPr>
        <p:spPr>
          <a:xfrm>
            <a:off x="713232" y="272491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语音多模态算法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87168" y="27249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3232" y="2999232"/>
            <a:ext cx="2231136" cy="9144"/>
          </a:xfrm>
          <a:prstGeom prst="rect">
            <a:avLst/>
          </a:prstGeom>
          <a:solidFill>
            <a:srgbClr val="E3DACE"/>
          </a:solidFill>
        </p:spPr>
      </p:sp>
      <p:sp>
        <p:nvSpPr>
          <p:cNvPr id="18" name="Text 16"/>
          <p:cNvSpPr/>
          <p:nvPr/>
        </p:nvSpPr>
        <p:spPr>
          <a:xfrm>
            <a:off x="713232" y="3054096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 / 架构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487168" y="3054096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" y="3328416"/>
            <a:ext cx="2231136" cy="9144"/>
          </a:xfrm>
          <a:prstGeom prst="rect">
            <a:avLst/>
          </a:prstGeom>
          <a:solidFill>
            <a:srgbClr val="E3DACE"/>
          </a:solidFill>
        </p:spPr>
      </p:sp>
      <p:sp>
        <p:nvSpPr>
          <p:cNvPr id="21" name="Text 19"/>
          <p:cNvSpPr/>
          <p:nvPr/>
        </p:nvSpPr>
        <p:spPr>
          <a:xfrm>
            <a:off x="713232" y="338328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 / 交互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487168" y="338328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3232" y="3657600"/>
            <a:ext cx="2231136" cy="9144"/>
          </a:xfrm>
          <a:prstGeom prst="rect">
            <a:avLst/>
          </a:prstGeom>
          <a:solidFill>
            <a:srgbClr val="E3DACE"/>
          </a:solidFill>
        </p:spPr>
      </p:sp>
      <p:sp>
        <p:nvSpPr>
          <p:cNvPr id="24" name="Text 22"/>
          <p:cNvSpPr/>
          <p:nvPr/>
        </p:nvSpPr>
        <p:spPr>
          <a:xfrm>
            <a:off x="713232" y="371246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心理学顾问（导师 / 外聘）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487168" y="371246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3232" y="3986784"/>
            <a:ext cx="2231136" cy="9144"/>
          </a:xfrm>
          <a:prstGeom prst="rect">
            <a:avLst/>
          </a:prstGeom>
          <a:solidFill>
            <a:srgbClr val="E3DACE"/>
          </a:solidFill>
        </p:spPr>
      </p:sp>
      <p:sp>
        <p:nvSpPr>
          <p:cNvPr id="27" name="Text 25"/>
          <p:cNvSpPr/>
          <p:nvPr/>
        </p:nvSpPr>
        <p:spPr>
          <a:xfrm>
            <a:off x="713232" y="404164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运营与设计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487168" y="40416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0" y="1536192"/>
            <a:ext cx="26060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0" y="1536192"/>
            <a:ext cx="2606040" cy="73152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31" name="Text 29"/>
          <p:cNvSpPr/>
          <p:nvPr/>
        </p:nvSpPr>
        <p:spPr>
          <a:xfrm>
            <a:off x="3502152" y="170078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关键指标（目标值）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502152" y="2066544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情绪识别加权 F1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56048" y="2066544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≥ 0.75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502152" y="2377440"/>
            <a:ext cx="2231136" cy="9144"/>
          </a:xfrm>
          <a:prstGeom prst="rect">
            <a:avLst/>
          </a:prstGeom>
          <a:solidFill>
            <a:srgbClr val="E3DACE"/>
          </a:solidFill>
        </p:spPr>
      </p:sp>
      <p:sp>
        <p:nvSpPr>
          <p:cNvPr id="35" name="Text 33"/>
          <p:cNvSpPr/>
          <p:nvPr/>
        </p:nvSpPr>
        <p:spPr>
          <a:xfrm>
            <a:off x="3502152" y="2450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记忆幻觉率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56048" y="2450592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≤ 1%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502152" y="2761488"/>
            <a:ext cx="2231136" cy="9144"/>
          </a:xfrm>
          <a:prstGeom prst="rect">
            <a:avLst/>
          </a:prstGeom>
          <a:solidFill>
            <a:srgbClr val="E3DACE"/>
          </a:solidFill>
        </p:spPr>
      </p:sp>
      <p:sp>
        <p:nvSpPr>
          <p:cNvPr id="38" name="Text 36"/>
          <p:cNvSpPr/>
          <p:nvPr/>
        </p:nvSpPr>
        <p:spPr>
          <a:xfrm>
            <a:off x="3502152" y="283464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危机识别召回率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56048" y="283464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≥ 98%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502152" y="3145536"/>
            <a:ext cx="2231136" cy="9144"/>
          </a:xfrm>
          <a:prstGeom prst="rect">
            <a:avLst/>
          </a:prstGeom>
          <a:solidFill>
            <a:srgbClr val="E3DACE"/>
          </a:solidFill>
        </p:spPr>
      </p:sp>
      <p:sp>
        <p:nvSpPr>
          <p:cNvPr id="41" name="Text 39"/>
          <p:cNvSpPr/>
          <p:nvPr/>
        </p:nvSpPr>
        <p:spPr>
          <a:xfrm>
            <a:off x="3502152" y="3218688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日留存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56048" y="321868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≥ 35%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502152" y="3529584"/>
            <a:ext cx="2231136" cy="9144"/>
          </a:xfrm>
          <a:prstGeom prst="rect">
            <a:avLst/>
          </a:prstGeom>
          <a:solidFill>
            <a:srgbClr val="E3DACE"/>
          </a:solidFill>
        </p:spPr>
      </p:sp>
      <p:sp>
        <p:nvSpPr>
          <p:cNvPr id="44" name="Text 42"/>
          <p:cNvSpPr/>
          <p:nvPr/>
        </p:nvSpPr>
        <p:spPr>
          <a:xfrm>
            <a:off x="3502152" y="3602736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人工共情评分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956048" y="3602736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≥ 4.0 / 5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502152" y="3913632"/>
            <a:ext cx="2231136" cy="9144"/>
          </a:xfrm>
          <a:prstGeom prst="rect">
            <a:avLst/>
          </a:prstGeom>
          <a:solidFill>
            <a:srgbClr val="E3DACE"/>
          </a:solidFill>
        </p:spPr>
      </p:sp>
      <p:sp>
        <p:nvSpPr>
          <p:cNvPr id="47" name="Text 45"/>
          <p:cNvSpPr/>
          <p:nvPr/>
        </p:nvSpPr>
        <p:spPr>
          <a:xfrm>
            <a:off x="3502152" y="3986784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主动关怀正反馈率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956048" y="3986784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≥ 60%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080760" y="1536192"/>
            <a:ext cx="2560320" cy="2926080"/>
          </a:xfrm>
          <a:prstGeom prst="rect">
            <a:avLst/>
          </a:prstGeom>
          <a:solidFill>
            <a:srgbClr val="242A50"/>
          </a:solidFill>
        </p:spPr>
      </p:sp>
      <p:sp>
        <p:nvSpPr>
          <p:cNvPr id="50" name="Text 48"/>
          <p:cNvSpPr/>
          <p:nvPr/>
        </p:nvSpPr>
        <p:spPr>
          <a:xfrm>
            <a:off x="6291072" y="170078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答辩三句核心应答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6291072" y="2084832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和套壳 Prompt 的区别？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91072" y="2340864"/>
            <a:ext cx="21488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EMG 记忆、Critic 校验、Guardian 旁路，三个 Prompt 无法实现的系统级能力。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291072" y="2871216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识别不准怎么办？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291072" y="3127248"/>
            <a:ext cx="21488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不确定性显式化、用户可纠正、低置信度不驱动高风险动作。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291072" y="3657600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是不是在做心理治疗？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291072" y="3913632"/>
            <a:ext cx="21488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不做诊断、不开药方、不承诺疗效；只做陪伴与转介。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58368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685800" y="658368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 YOU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1133856"/>
            <a:ext cx="7772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我们不想做一个让人离不开的 AI，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我们想做一个让人有力气回到真实生活里的 AI。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13232" y="2432304"/>
            <a:ext cx="1371600" cy="45720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6" name="Text 4"/>
          <p:cNvSpPr/>
          <p:nvPr/>
        </p:nvSpPr>
        <p:spPr>
          <a:xfrm>
            <a:off x="685800" y="2615184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E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情绪陪伴这件事，最稀缺的不是更聪明的模型，而是更长久的记得、更克制的打扰，和更清醒的边界。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3310128"/>
            <a:ext cx="2514600" cy="969264"/>
          </a:xfrm>
          <a:prstGeom prst="rect">
            <a:avLst/>
          </a:prstGeom>
          <a:solidFill>
            <a:srgbClr val="2E3463"/>
          </a:solidFill>
        </p:spPr>
      </p:sp>
      <p:sp>
        <p:nvSpPr>
          <p:cNvPr id="8" name="Shape 6"/>
          <p:cNvSpPr/>
          <p:nvPr/>
        </p:nvSpPr>
        <p:spPr>
          <a:xfrm>
            <a:off x="685800" y="3310128"/>
            <a:ext cx="54864" cy="969264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9" name="Text 7"/>
          <p:cNvSpPr/>
          <p:nvPr/>
        </p:nvSpPr>
        <p:spPr>
          <a:xfrm>
            <a:off x="905256" y="3438144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记得你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05256" y="3767328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长期记忆可查可删，绝不臆造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3310128"/>
            <a:ext cx="2514600" cy="969264"/>
          </a:xfrm>
          <a:prstGeom prst="rect">
            <a:avLst/>
          </a:prstGeom>
          <a:solidFill>
            <a:srgbClr val="2E3463"/>
          </a:solidFill>
        </p:spPr>
      </p:sp>
      <p:sp>
        <p:nvSpPr>
          <p:cNvPr id="12" name="Shape 10"/>
          <p:cNvSpPr/>
          <p:nvPr/>
        </p:nvSpPr>
        <p:spPr>
          <a:xfrm>
            <a:off x="3383280" y="3310128"/>
            <a:ext cx="54864" cy="969264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13" name="Text 11"/>
          <p:cNvSpPr/>
          <p:nvPr/>
        </p:nvSpPr>
        <p:spPr>
          <a:xfrm>
            <a:off x="3602736" y="3438144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懂分寸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02736" y="3767328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主动关怀有上限，打扰即冷却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0760" y="3310128"/>
            <a:ext cx="2514600" cy="969264"/>
          </a:xfrm>
          <a:prstGeom prst="rect">
            <a:avLst/>
          </a:prstGeom>
          <a:solidFill>
            <a:srgbClr val="2E3463"/>
          </a:solidFill>
        </p:spPr>
      </p:sp>
      <p:sp>
        <p:nvSpPr>
          <p:cNvPr id="16" name="Shape 14"/>
          <p:cNvSpPr/>
          <p:nvPr/>
        </p:nvSpPr>
        <p:spPr>
          <a:xfrm>
            <a:off x="6080760" y="3310128"/>
            <a:ext cx="54864" cy="969264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17" name="Text 15"/>
          <p:cNvSpPr/>
          <p:nvPr/>
        </p:nvSpPr>
        <p:spPr>
          <a:xfrm>
            <a:off x="6300216" y="3438144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守底线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0216" y="3767328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危机必转介，绝不装作没看见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457200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心屿 MindIsle　·　让每一种情绪，都被温柔接住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6816</Words>
  <Application>WPS 演示</Application>
  <PresentationFormat>On-screen Show (16:9)</PresentationFormat>
  <Paragraphs>1089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心屿 MindIsle · AI 情感陪伴平台 参赛方案</dc:title>
  <dc:creator>心屿 MindIsle 团队</dc:creator>
  <dc:subject>iCAN 大学生创新创业大赛 AI 应用创新挑战赛</dc:subject>
  <cp:lastModifiedBy>清羽</cp:lastModifiedBy>
  <cp:revision>3</cp:revision>
  <dcterms:created xsi:type="dcterms:W3CDTF">2026-09-26T08:21:00Z</dcterms:created>
  <dcterms:modified xsi:type="dcterms:W3CDTF">2026-09-26T09:00:17Z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D6DEA3C1F05D46FE9E3B80C1D036ADA6_12</vt:lpwstr>
  </property>
  <property fmtid="{D5CDD505-2E9C-101B-9397-08002B2CF9AE}" pid="3" name="KSOProductBuildVer">
    <vt:lpwstr>2052-12.1.0.28505</vt:lpwstr>
  </property>
</Properties>
</file>